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Montserrat Bold" charset="1" panose="00000800000000000000"/>
      <p:regular r:id="rId20"/>
    </p:embeddedFont>
    <p:embeddedFont>
      <p:font typeface="Montserrat Medium" charset="1" panose="00000600000000000000"/>
      <p:regular r:id="rId21"/>
    </p:embeddedFont>
    <p:embeddedFont>
      <p:font typeface="Montserrat" charset="1" panose="000005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2" Target="../media/image3.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 Id="rId9" Target="../media/image10.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11.png" Type="http://schemas.openxmlformats.org/officeDocument/2006/relationships/image"/><Relationship Id="rId8" Target="../media/image7.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svg" Type="http://schemas.openxmlformats.org/officeDocument/2006/relationships/image"/><Relationship Id="rId2" Target="../media/image3.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 Id="rId9" Target="../media/image1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svg" Type="http://schemas.openxmlformats.org/officeDocument/2006/relationships/image"/><Relationship Id="rId2" Target="../media/image3.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14.png" Type="http://schemas.openxmlformats.org/officeDocument/2006/relationships/image"/><Relationship Id="rId8" Target="../media/image15.png" Type="http://schemas.openxmlformats.org/officeDocument/2006/relationships/image"/><Relationship Id="rId9" Target="../media/image1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10.png" Type="http://schemas.openxmlformats.org/officeDocument/2006/relationships/image"/><Relationship Id="rId8" Target="../media/image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svg" Type="http://schemas.openxmlformats.org/officeDocument/2006/relationships/image"/><Relationship Id="rId2" Target="../media/image3.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 Id="rId9" Target="../media/image18.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20.png" Type="http://schemas.openxmlformats.org/officeDocument/2006/relationships/image"/><Relationship Id="rId6" Target="../media/image21.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6F6F6"/>
        </a:solidFill>
      </p:bgPr>
    </p:bg>
    <p:spTree>
      <p:nvGrpSpPr>
        <p:cNvPr id="1" name=""/>
        <p:cNvGrpSpPr/>
        <p:nvPr/>
      </p:nvGrpSpPr>
      <p:grpSpPr>
        <a:xfrm>
          <a:off x="0" y="0"/>
          <a:ext cx="0" cy="0"/>
          <a:chOff x="0" y="0"/>
          <a:chExt cx="0" cy="0"/>
        </a:xfrm>
      </p:grpSpPr>
      <p:sp>
        <p:nvSpPr>
          <p:cNvPr name="Freeform 2" id="2"/>
          <p:cNvSpPr/>
          <p:nvPr/>
        </p:nvSpPr>
        <p:spPr>
          <a:xfrm flipH="false" flipV="false" rot="0">
            <a:off x="6670238" y="0"/>
            <a:ext cx="11617762" cy="10287000"/>
          </a:xfrm>
          <a:custGeom>
            <a:avLst/>
            <a:gdLst/>
            <a:ahLst/>
            <a:cxnLst/>
            <a:rect r="r" b="b" t="t" l="l"/>
            <a:pathLst>
              <a:path h="10287000" w="11617762">
                <a:moveTo>
                  <a:pt x="0" y="0"/>
                </a:moveTo>
                <a:lnTo>
                  <a:pt x="11617762" y="0"/>
                </a:lnTo>
                <a:lnTo>
                  <a:pt x="11617762"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9144000" y="0"/>
            <a:ext cx="10287000" cy="10287000"/>
          </a:xfrm>
          <a:custGeom>
            <a:avLst/>
            <a:gdLst/>
            <a:ahLst/>
            <a:cxnLst/>
            <a:rect r="r" b="b" t="t" l="l"/>
            <a:pathLst>
              <a:path h="10287000" w="10287000">
                <a:moveTo>
                  <a:pt x="10287000" y="0"/>
                </a:moveTo>
                <a:lnTo>
                  <a:pt x="0" y="0"/>
                </a:lnTo>
                <a:lnTo>
                  <a:pt x="0" y="10287000"/>
                </a:lnTo>
                <a:lnTo>
                  <a:pt x="10287000" y="10287000"/>
                </a:lnTo>
                <a:lnTo>
                  <a:pt x="10287000" y="0"/>
                </a:lnTo>
                <a:close/>
              </a:path>
            </a:pathLst>
          </a:custGeom>
          <a:blipFill>
            <a:blip r:embed="rId4">
              <a:alphaModFix amt="25000"/>
            </a:blip>
            <a:stretch>
              <a:fillRect l="0" t="0" r="0" b="0"/>
            </a:stretch>
          </a:blipFill>
        </p:spPr>
      </p:sp>
      <p:sp>
        <p:nvSpPr>
          <p:cNvPr name="Freeform 4" id="4"/>
          <p:cNvSpPr/>
          <p:nvPr/>
        </p:nvSpPr>
        <p:spPr>
          <a:xfrm flipH="false" flipV="false" rot="0">
            <a:off x="-1143000" y="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4">
              <a:alphaModFix amt="25000"/>
            </a:blip>
            <a:stretch>
              <a:fillRect l="0" t="0" r="0" b="0"/>
            </a:stretch>
          </a:blipFill>
        </p:spPr>
      </p:sp>
      <p:sp>
        <p:nvSpPr>
          <p:cNvPr name="Freeform 5" id="5"/>
          <p:cNvSpPr/>
          <p:nvPr/>
        </p:nvSpPr>
        <p:spPr>
          <a:xfrm flipH="true" flipV="false" rot="0">
            <a:off x="1028700" y="1029604"/>
            <a:ext cx="805018" cy="805018"/>
          </a:xfrm>
          <a:custGeom>
            <a:avLst/>
            <a:gdLst/>
            <a:ahLst/>
            <a:cxnLst/>
            <a:rect r="r" b="b" t="t" l="l"/>
            <a:pathLst>
              <a:path h="805018" w="805018">
                <a:moveTo>
                  <a:pt x="805018" y="0"/>
                </a:moveTo>
                <a:lnTo>
                  <a:pt x="0" y="0"/>
                </a:lnTo>
                <a:lnTo>
                  <a:pt x="0" y="805018"/>
                </a:lnTo>
                <a:lnTo>
                  <a:pt x="805018" y="805018"/>
                </a:lnTo>
                <a:lnTo>
                  <a:pt x="805018"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2150942" y="902821"/>
            <a:ext cx="3776531" cy="8252799"/>
          </a:xfrm>
          <a:custGeom>
            <a:avLst/>
            <a:gdLst/>
            <a:ahLst/>
            <a:cxnLst/>
            <a:rect r="r" b="b" t="t" l="l"/>
            <a:pathLst>
              <a:path h="8252799" w="3776531">
                <a:moveTo>
                  <a:pt x="0" y="0"/>
                </a:moveTo>
                <a:lnTo>
                  <a:pt x="3776532" y="0"/>
                </a:lnTo>
                <a:lnTo>
                  <a:pt x="3776532" y="8252799"/>
                </a:lnTo>
                <a:lnTo>
                  <a:pt x="0" y="8252799"/>
                </a:lnTo>
                <a:lnTo>
                  <a:pt x="0" y="0"/>
                </a:lnTo>
                <a:close/>
              </a:path>
            </a:pathLst>
          </a:custGeom>
          <a:blipFill>
            <a:blip r:embed="rId7"/>
            <a:stretch>
              <a:fillRect l="0" t="-986" r="0" b="-986"/>
            </a:stretch>
          </a:blipFill>
        </p:spPr>
      </p:sp>
      <p:sp>
        <p:nvSpPr>
          <p:cNvPr name="Freeform 7" id="7"/>
          <p:cNvSpPr/>
          <p:nvPr/>
        </p:nvSpPr>
        <p:spPr>
          <a:xfrm flipH="false" flipV="false" rot="0">
            <a:off x="11378354" y="646628"/>
            <a:ext cx="5321707" cy="8765186"/>
          </a:xfrm>
          <a:custGeom>
            <a:avLst/>
            <a:gdLst/>
            <a:ahLst/>
            <a:cxnLst/>
            <a:rect r="r" b="b" t="t" l="l"/>
            <a:pathLst>
              <a:path h="8765186" w="5321707">
                <a:moveTo>
                  <a:pt x="0" y="0"/>
                </a:moveTo>
                <a:lnTo>
                  <a:pt x="5321708" y="0"/>
                </a:lnTo>
                <a:lnTo>
                  <a:pt x="5321708" y="8765185"/>
                </a:lnTo>
                <a:lnTo>
                  <a:pt x="0" y="8765185"/>
                </a:lnTo>
                <a:lnTo>
                  <a:pt x="0" y="0"/>
                </a:lnTo>
                <a:close/>
              </a:path>
            </a:pathLst>
          </a:custGeom>
          <a:blipFill>
            <a:blip r:embed="rId8"/>
            <a:stretch>
              <a:fillRect l="-956" t="0" r="-956" b="0"/>
            </a:stretch>
          </a:blipFill>
        </p:spPr>
      </p:sp>
      <p:sp>
        <p:nvSpPr>
          <p:cNvPr name="TextBox 8" id="8"/>
          <p:cNvSpPr txBox="true"/>
          <p:nvPr/>
        </p:nvSpPr>
        <p:spPr>
          <a:xfrm rot="0">
            <a:off x="1028700" y="3217789"/>
            <a:ext cx="8754817" cy="2608757"/>
          </a:xfrm>
          <a:prstGeom prst="rect">
            <a:avLst/>
          </a:prstGeom>
        </p:spPr>
        <p:txBody>
          <a:bodyPr anchor="t" rtlCol="false" tIns="0" lIns="0" bIns="0" rIns="0">
            <a:spAutoFit/>
          </a:bodyPr>
          <a:lstStyle/>
          <a:p>
            <a:pPr algn="l">
              <a:lnSpc>
                <a:spcPts val="10100"/>
              </a:lnSpc>
            </a:pPr>
            <a:r>
              <a:rPr lang="en-US" sz="9902" b="true">
                <a:solidFill>
                  <a:srgbClr val="004A55"/>
                </a:solidFill>
                <a:latin typeface="Montserrat Bold"/>
                <a:ea typeface="Montserrat Bold"/>
                <a:cs typeface="Montserrat Bold"/>
                <a:sym typeface="Montserrat Bold"/>
              </a:rPr>
              <a:t>Luarsekolah Final Project</a:t>
            </a:r>
          </a:p>
        </p:txBody>
      </p:sp>
      <p:sp>
        <p:nvSpPr>
          <p:cNvPr name="TextBox 9" id="9"/>
          <p:cNvSpPr txBox="true"/>
          <p:nvPr/>
        </p:nvSpPr>
        <p:spPr>
          <a:xfrm rot="0">
            <a:off x="1028700" y="6548519"/>
            <a:ext cx="6647324" cy="529644"/>
          </a:xfrm>
          <a:prstGeom prst="rect">
            <a:avLst/>
          </a:prstGeom>
        </p:spPr>
        <p:txBody>
          <a:bodyPr anchor="t" rtlCol="false" tIns="0" lIns="0" bIns="0" rIns="0">
            <a:spAutoFit/>
          </a:bodyPr>
          <a:lstStyle/>
          <a:p>
            <a:pPr algn="l">
              <a:lnSpc>
                <a:spcPts val="4079"/>
              </a:lnSpc>
            </a:pPr>
            <a:r>
              <a:rPr lang="en-US" sz="3999" b="true">
                <a:solidFill>
                  <a:srgbClr val="004A55"/>
                </a:solidFill>
                <a:latin typeface="Montserrat Medium"/>
                <a:ea typeface="Montserrat Medium"/>
                <a:cs typeface="Montserrat Medium"/>
                <a:sym typeface="Montserrat Medium"/>
              </a:rPr>
              <a:t>Kevin Luis Banamtuan</a:t>
            </a:r>
          </a:p>
        </p:txBody>
      </p:sp>
      <p:sp>
        <p:nvSpPr>
          <p:cNvPr name="TextBox 10" id="10"/>
          <p:cNvSpPr txBox="true"/>
          <p:nvPr/>
        </p:nvSpPr>
        <p:spPr>
          <a:xfrm rot="0">
            <a:off x="1028700" y="7135313"/>
            <a:ext cx="6647324" cy="368782"/>
          </a:xfrm>
          <a:prstGeom prst="rect">
            <a:avLst/>
          </a:prstGeom>
        </p:spPr>
        <p:txBody>
          <a:bodyPr anchor="t" rtlCol="false" tIns="0" lIns="0" bIns="0" rIns="0">
            <a:spAutoFit/>
          </a:bodyPr>
          <a:lstStyle/>
          <a:p>
            <a:pPr algn="l">
              <a:lnSpc>
                <a:spcPts val="2856"/>
              </a:lnSpc>
            </a:pPr>
            <a:r>
              <a:rPr lang="en-US" sz="2800" b="true">
                <a:solidFill>
                  <a:srgbClr val="004A55"/>
                </a:solidFill>
                <a:latin typeface="Montserrat Medium"/>
                <a:ea typeface="Montserrat Medium"/>
                <a:cs typeface="Montserrat Medium"/>
                <a:sym typeface="Montserrat Medium"/>
              </a:rPr>
              <a:t>Software Engineer (Mobile)</a:t>
            </a:r>
          </a:p>
        </p:txBody>
      </p:sp>
      <p:sp>
        <p:nvSpPr>
          <p:cNvPr name="TextBox 11" id="11"/>
          <p:cNvSpPr txBox="true"/>
          <p:nvPr/>
        </p:nvSpPr>
        <p:spPr>
          <a:xfrm rot="0">
            <a:off x="1028700" y="2687083"/>
            <a:ext cx="6647324" cy="368782"/>
          </a:xfrm>
          <a:prstGeom prst="rect">
            <a:avLst/>
          </a:prstGeom>
        </p:spPr>
        <p:txBody>
          <a:bodyPr anchor="t" rtlCol="false" tIns="0" lIns="0" bIns="0" rIns="0">
            <a:spAutoFit/>
          </a:bodyPr>
          <a:lstStyle/>
          <a:p>
            <a:pPr algn="l">
              <a:lnSpc>
                <a:spcPts val="2856"/>
              </a:lnSpc>
            </a:pPr>
            <a:r>
              <a:rPr lang="en-US" sz="2800" b="true">
                <a:solidFill>
                  <a:srgbClr val="004A55"/>
                </a:solidFill>
                <a:latin typeface="Montserrat Medium"/>
                <a:ea typeface="Montserrat Medium"/>
                <a:cs typeface="Montserrat Medium"/>
                <a:sym typeface="Montserrat Medium"/>
              </a:rPr>
              <a:t>Project Based Internship</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6F6F6"/>
        </a:solidFill>
      </p:bgPr>
    </p:bg>
    <p:spTree>
      <p:nvGrpSpPr>
        <p:cNvPr id="1" name=""/>
        <p:cNvGrpSpPr/>
        <p:nvPr/>
      </p:nvGrpSpPr>
      <p:grpSpPr>
        <a:xfrm>
          <a:off x="0" y="0"/>
          <a:ext cx="0" cy="0"/>
          <a:chOff x="0" y="0"/>
          <a:chExt cx="0" cy="0"/>
        </a:xfrm>
      </p:grpSpPr>
      <p:sp>
        <p:nvSpPr>
          <p:cNvPr name="Freeform 2" id="2"/>
          <p:cNvSpPr/>
          <p:nvPr/>
        </p:nvSpPr>
        <p:spPr>
          <a:xfrm flipH="true" flipV="false" rot="0">
            <a:off x="9144000" y="0"/>
            <a:ext cx="10287000" cy="10287000"/>
          </a:xfrm>
          <a:custGeom>
            <a:avLst/>
            <a:gdLst/>
            <a:ahLst/>
            <a:cxnLst/>
            <a:rect r="r" b="b" t="t" l="l"/>
            <a:pathLst>
              <a:path h="10287000" w="10287000">
                <a:moveTo>
                  <a:pt x="10287000" y="0"/>
                </a:moveTo>
                <a:lnTo>
                  <a:pt x="0" y="0"/>
                </a:lnTo>
                <a:lnTo>
                  <a:pt x="0" y="10287000"/>
                </a:lnTo>
                <a:lnTo>
                  <a:pt x="10287000" y="10287000"/>
                </a:lnTo>
                <a:lnTo>
                  <a:pt x="10287000" y="0"/>
                </a:lnTo>
                <a:close/>
              </a:path>
            </a:pathLst>
          </a:custGeom>
          <a:blipFill>
            <a:blip r:embed="rId2">
              <a:alphaModFix amt="25000"/>
            </a:blip>
            <a:stretch>
              <a:fillRect l="0" t="0" r="0" b="0"/>
            </a:stretch>
          </a:blipFill>
        </p:spPr>
      </p:sp>
      <p:sp>
        <p:nvSpPr>
          <p:cNvPr name="Freeform 3" id="3"/>
          <p:cNvSpPr/>
          <p:nvPr/>
        </p:nvSpPr>
        <p:spPr>
          <a:xfrm flipH="false" flipV="false" rot="0">
            <a:off x="9144000" y="651875"/>
            <a:ext cx="11617762" cy="10287000"/>
          </a:xfrm>
          <a:custGeom>
            <a:avLst/>
            <a:gdLst/>
            <a:ahLst/>
            <a:cxnLst/>
            <a:rect r="r" b="b" t="t" l="l"/>
            <a:pathLst>
              <a:path h="10287000" w="11617762">
                <a:moveTo>
                  <a:pt x="0" y="0"/>
                </a:moveTo>
                <a:lnTo>
                  <a:pt x="11617762" y="0"/>
                </a:lnTo>
                <a:lnTo>
                  <a:pt x="11617762" y="10287000"/>
                </a:lnTo>
                <a:lnTo>
                  <a:pt x="0" y="102870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143000" y="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alphaModFix amt="25000"/>
            </a:blip>
            <a:stretch>
              <a:fillRect l="0" t="0" r="0" b="0"/>
            </a:stretch>
          </a:blipFill>
        </p:spPr>
      </p:sp>
      <p:sp>
        <p:nvSpPr>
          <p:cNvPr name="Freeform 5" id="5"/>
          <p:cNvSpPr/>
          <p:nvPr/>
        </p:nvSpPr>
        <p:spPr>
          <a:xfrm flipH="true" flipV="false" rot="0">
            <a:off x="1028700" y="1029604"/>
            <a:ext cx="805018" cy="805018"/>
          </a:xfrm>
          <a:custGeom>
            <a:avLst/>
            <a:gdLst/>
            <a:ahLst/>
            <a:cxnLst/>
            <a:rect r="r" b="b" t="t" l="l"/>
            <a:pathLst>
              <a:path h="805018" w="805018">
                <a:moveTo>
                  <a:pt x="805018" y="0"/>
                </a:moveTo>
                <a:lnTo>
                  <a:pt x="0" y="0"/>
                </a:lnTo>
                <a:lnTo>
                  <a:pt x="0" y="805018"/>
                </a:lnTo>
                <a:lnTo>
                  <a:pt x="805018" y="805018"/>
                </a:lnTo>
                <a:lnTo>
                  <a:pt x="805018"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true" rot="0">
            <a:off x="15280012" y="7300604"/>
            <a:ext cx="1979288" cy="1957696"/>
          </a:xfrm>
          <a:custGeom>
            <a:avLst/>
            <a:gdLst/>
            <a:ahLst/>
            <a:cxnLst/>
            <a:rect r="r" b="b" t="t" l="l"/>
            <a:pathLst>
              <a:path h="1957696" w="1979288">
                <a:moveTo>
                  <a:pt x="0" y="1957696"/>
                </a:moveTo>
                <a:lnTo>
                  <a:pt x="1979288" y="1957696"/>
                </a:lnTo>
                <a:lnTo>
                  <a:pt x="1979288" y="0"/>
                </a:lnTo>
                <a:lnTo>
                  <a:pt x="0" y="0"/>
                </a:lnTo>
                <a:lnTo>
                  <a:pt x="0" y="1957696"/>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12202084" y="809264"/>
            <a:ext cx="3674248" cy="8187740"/>
          </a:xfrm>
          <a:custGeom>
            <a:avLst/>
            <a:gdLst/>
            <a:ahLst/>
            <a:cxnLst/>
            <a:rect r="r" b="b" t="t" l="l"/>
            <a:pathLst>
              <a:path h="8187740" w="3674248">
                <a:moveTo>
                  <a:pt x="0" y="0"/>
                </a:moveTo>
                <a:lnTo>
                  <a:pt x="3674248" y="0"/>
                </a:lnTo>
                <a:lnTo>
                  <a:pt x="3674248" y="8187740"/>
                </a:lnTo>
                <a:lnTo>
                  <a:pt x="0" y="8187740"/>
                </a:lnTo>
                <a:lnTo>
                  <a:pt x="0" y="0"/>
                </a:lnTo>
                <a:close/>
              </a:path>
            </a:pathLst>
          </a:custGeom>
          <a:blipFill>
            <a:blip r:embed="rId9"/>
            <a:stretch>
              <a:fillRect l="0" t="0" r="0" b="0"/>
            </a:stretch>
          </a:blipFill>
        </p:spPr>
      </p:sp>
      <p:sp>
        <p:nvSpPr>
          <p:cNvPr name="Freeform 8" id="8"/>
          <p:cNvSpPr/>
          <p:nvPr/>
        </p:nvSpPr>
        <p:spPr>
          <a:xfrm flipH="false" flipV="false" rot="0">
            <a:off x="11378354" y="646628"/>
            <a:ext cx="5321707" cy="8765186"/>
          </a:xfrm>
          <a:custGeom>
            <a:avLst/>
            <a:gdLst/>
            <a:ahLst/>
            <a:cxnLst/>
            <a:rect r="r" b="b" t="t" l="l"/>
            <a:pathLst>
              <a:path h="8765186" w="5321707">
                <a:moveTo>
                  <a:pt x="0" y="0"/>
                </a:moveTo>
                <a:lnTo>
                  <a:pt x="5321708" y="0"/>
                </a:lnTo>
                <a:lnTo>
                  <a:pt x="5321708" y="8765185"/>
                </a:lnTo>
                <a:lnTo>
                  <a:pt x="0" y="8765185"/>
                </a:lnTo>
                <a:lnTo>
                  <a:pt x="0" y="0"/>
                </a:lnTo>
                <a:close/>
              </a:path>
            </a:pathLst>
          </a:custGeom>
          <a:blipFill>
            <a:blip r:embed="rId10"/>
            <a:stretch>
              <a:fillRect l="-956" t="0" r="-956" b="0"/>
            </a:stretch>
          </a:blipFill>
        </p:spPr>
      </p:sp>
      <p:sp>
        <p:nvSpPr>
          <p:cNvPr name="TextBox 9" id="9"/>
          <p:cNvSpPr txBox="true"/>
          <p:nvPr/>
        </p:nvSpPr>
        <p:spPr>
          <a:xfrm rot="0">
            <a:off x="1028700" y="2732254"/>
            <a:ext cx="7803867" cy="1003145"/>
          </a:xfrm>
          <a:prstGeom prst="rect">
            <a:avLst/>
          </a:prstGeom>
        </p:spPr>
        <p:txBody>
          <a:bodyPr anchor="t" rtlCol="false" tIns="0" lIns="0" bIns="0" rIns="0">
            <a:spAutoFit/>
          </a:bodyPr>
          <a:lstStyle/>
          <a:p>
            <a:pPr algn="l">
              <a:lnSpc>
                <a:spcPts val="7562"/>
              </a:lnSpc>
            </a:pPr>
            <a:r>
              <a:rPr lang="en-US" sz="7414" b="true">
                <a:solidFill>
                  <a:srgbClr val="004A55"/>
                </a:solidFill>
                <a:latin typeface="Montserrat Bold"/>
                <a:ea typeface="Montserrat Bold"/>
                <a:cs typeface="Montserrat Bold"/>
                <a:sym typeface="Montserrat Bold"/>
              </a:rPr>
              <a:t>Introduction</a:t>
            </a:r>
          </a:p>
        </p:txBody>
      </p:sp>
      <p:sp>
        <p:nvSpPr>
          <p:cNvPr name="TextBox 10" id="10"/>
          <p:cNvSpPr txBox="true"/>
          <p:nvPr/>
        </p:nvSpPr>
        <p:spPr>
          <a:xfrm rot="0">
            <a:off x="1028700" y="4031477"/>
            <a:ext cx="9275954" cy="2724740"/>
          </a:xfrm>
          <a:prstGeom prst="rect">
            <a:avLst/>
          </a:prstGeom>
        </p:spPr>
        <p:txBody>
          <a:bodyPr anchor="t" rtlCol="false" tIns="0" lIns="0" bIns="0" rIns="0">
            <a:spAutoFit/>
          </a:bodyPr>
          <a:lstStyle/>
          <a:p>
            <a:pPr algn="l">
              <a:lnSpc>
                <a:spcPts val="3633"/>
              </a:lnSpc>
            </a:pPr>
            <a:r>
              <a:rPr lang="en-US" sz="2595" b="true">
                <a:solidFill>
                  <a:srgbClr val="004A55"/>
                </a:solidFill>
                <a:latin typeface="Montserrat Bold"/>
                <a:ea typeface="Montserrat Bold"/>
                <a:cs typeface="Montserrat Bold"/>
                <a:sym typeface="Montserrat Bold"/>
              </a:rPr>
              <a:t>Luarsekolah App </a:t>
            </a:r>
            <a:r>
              <a:rPr lang="en-US" sz="2595">
                <a:solidFill>
                  <a:srgbClr val="004A55"/>
                </a:solidFill>
                <a:latin typeface="Montserrat"/>
                <a:ea typeface="Montserrat"/>
                <a:cs typeface="Montserrat"/>
                <a:sym typeface="Montserrat"/>
              </a:rPr>
              <a:t>adalah Proyek Akhir Project Based Internship saya di Luarsekolah. Aplikasi mobile ini mengintegrasikan fitur Pembelajaran (Course) dan Produktivitas (Todo List) dalam satu platform, bertujuan membantu pengguna mengakses materi sekaligus mengatur tugas secara disiplin.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6F6F6"/>
        </a:solidFill>
      </p:bgPr>
    </p:bg>
    <p:spTree>
      <p:nvGrpSpPr>
        <p:cNvPr id="1" name=""/>
        <p:cNvGrpSpPr/>
        <p:nvPr/>
      </p:nvGrpSpPr>
      <p:grpSpPr>
        <a:xfrm>
          <a:off x="0" y="0"/>
          <a:ext cx="0" cy="0"/>
          <a:chOff x="0" y="0"/>
          <a:chExt cx="0" cy="0"/>
        </a:xfrm>
      </p:grpSpPr>
      <p:sp>
        <p:nvSpPr>
          <p:cNvPr name="Freeform 2" id="2"/>
          <p:cNvSpPr/>
          <p:nvPr/>
        </p:nvSpPr>
        <p:spPr>
          <a:xfrm flipH="true" flipV="false" rot="0">
            <a:off x="9144000" y="0"/>
            <a:ext cx="10287000" cy="10287000"/>
          </a:xfrm>
          <a:custGeom>
            <a:avLst/>
            <a:gdLst/>
            <a:ahLst/>
            <a:cxnLst/>
            <a:rect r="r" b="b" t="t" l="l"/>
            <a:pathLst>
              <a:path h="10287000" w="10287000">
                <a:moveTo>
                  <a:pt x="10287000" y="0"/>
                </a:moveTo>
                <a:lnTo>
                  <a:pt x="0" y="0"/>
                </a:lnTo>
                <a:lnTo>
                  <a:pt x="0" y="10287000"/>
                </a:lnTo>
                <a:lnTo>
                  <a:pt x="10287000" y="10287000"/>
                </a:lnTo>
                <a:lnTo>
                  <a:pt x="10287000" y="0"/>
                </a:lnTo>
                <a:close/>
              </a:path>
            </a:pathLst>
          </a:custGeom>
          <a:blipFill>
            <a:blip r:embed="rId2">
              <a:alphaModFix amt="25000"/>
            </a:blip>
            <a:stretch>
              <a:fillRect l="0" t="0" r="0" b="0"/>
            </a:stretch>
          </a:blipFill>
        </p:spPr>
      </p:sp>
      <p:sp>
        <p:nvSpPr>
          <p:cNvPr name="Freeform 3" id="3"/>
          <p:cNvSpPr/>
          <p:nvPr/>
        </p:nvSpPr>
        <p:spPr>
          <a:xfrm flipH="false" flipV="false" rot="0">
            <a:off x="-1143000" y="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alphaModFix amt="25000"/>
            </a:blip>
            <a:stretch>
              <a:fillRect l="0" t="0" r="0" b="0"/>
            </a:stretch>
          </a:blipFill>
        </p:spPr>
      </p:sp>
      <p:sp>
        <p:nvSpPr>
          <p:cNvPr name="Freeform 4" id="4"/>
          <p:cNvSpPr/>
          <p:nvPr/>
        </p:nvSpPr>
        <p:spPr>
          <a:xfrm flipH="true" flipV="false" rot="0">
            <a:off x="1028700" y="1029604"/>
            <a:ext cx="805018" cy="805018"/>
          </a:xfrm>
          <a:custGeom>
            <a:avLst/>
            <a:gdLst/>
            <a:ahLst/>
            <a:cxnLst/>
            <a:rect r="r" b="b" t="t" l="l"/>
            <a:pathLst>
              <a:path h="805018" w="805018">
                <a:moveTo>
                  <a:pt x="805018" y="0"/>
                </a:moveTo>
                <a:lnTo>
                  <a:pt x="0" y="0"/>
                </a:lnTo>
                <a:lnTo>
                  <a:pt x="0" y="805018"/>
                </a:lnTo>
                <a:lnTo>
                  <a:pt x="805018" y="805018"/>
                </a:lnTo>
                <a:lnTo>
                  <a:pt x="805018"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true" rot="0">
            <a:off x="15280012" y="7300604"/>
            <a:ext cx="1979288" cy="1957696"/>
          </a:xfrm>
          <a:custGeom>
            <a:avLst/>
            <a:gdLst/>
            <a:ahLst/>
            <a:cxnLst/>
            <a:rect r="r" b="b" t="t" l="l"/>
            <a:pathLst>
              <a:path h="1957696" w="1979288">
                <a:moveTo>
                  <a:pt x="0" y="1957696"/>
                </a:moveTo>
                <a:lnTo>
                  <a:pt x="1979288" y="1957696"/>
                </a:lnTo>
                <a:lnTo>
                  <a:pt x="1979288" y="0"/>
                </a:lnTo>
                <a:lnTo>
                  <a:pt x="0" y="0"/>
                </a:lnTo>
                <a:lnTo>
                  <a:pt x="0" y="1957696"/>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1028700" y="3178199"/>
            <a:ext cx="10922659" cy="6382124"/>
          </a:xfrm>
          <a:prstGeom prst="rect">
            <a:avLst/>
          </a:prstGeom>
        </p:spPr>
        <p:txBody>
          <a:bodyPr anchor="t" rtlCol="false" tIns="0" lIns="0" bIns="0" rIns="0">
            <a:spAutoFit/>
          </a:bodyPr>
          <a:lstStyle/>
          <a:p>
            <a:pPr algn="l">
              <a:lnSpc>
                <a:spcPts val="3633"/>
              </a:lnSpc>
            </a:pPr>
            <a:r>
              <a:rPr lang="en-US" sz="2595" b="true">
                <a:solidFill>
                  <a:srgbClr val="004A55"/>
                </a:solidFill>
                <a:latin typeface="Montserrat Bold"/>
                <a:ea typeface="Montserrat Bold"/>
                <a:cs typeface="Montserrat Bold"/>
                <a:sym typeface="Montserrat Bold"/>
              </a:rPr>
              <a:t>Fitur yang dikembangkan:</a:t>
            </a:r>
          </a:p>
          <a:p>
            <a:pPr algn="l" marL="560340" indent="-280170" lvl="1">
              <a:lnSpc>
                <a:spcPts val="3633"/>
              </a:lnSpc>
              <a:buFont typeface="Arial"/>
              <a:buChar char="•"/>
            </a:pPr>
            <a:r>
              <a:rPr lang="en-US" b="true" sz="2595">
                <a:solidFill>
                  <a:srgbClr val="004A55"/>
                </a:solidFill>
                <a:latin typeface="Montserrat Bold"/>
                <a:ea typeface="Montserrat Bold"/>
                <a:cs typeface="Montserrat Bold"/>
                <a:sym typeface="Montserrat Bold"/>
              </a:rPr>
              <a:t>Authentication</a:t>
            </a:r>
            <a:r>
              <a:rPr lang="en-US" sz="2595">
                <a:solidFill>
                  <a:srgbClr val="004A55"/>
                </a:solidFill>
                <a:latin typeface="Montserrat"/>
                <a:ea typeface="Montserrat"/>
                <a:cs typeface="Montserrat"/>
                <a:sym typeface="Montserrat"/>
              </a:rPr>
              <a:t>: Keamanan akses pengguna menggunakan Login dan Register.</a:t>
            </a:r>
          </a:p>
          <a:p>
            <a:pPr algn="l" marL="560340" indent="-280170" lvl="1">
              <a:lnSpc>
                <a:spcPts val="3633"/>
              </a:lnSpc>
              <a:buFont typeface="Arial"/>
              <a:buChar char="•"/>
            </a:pPr>
            <a:r>
              <a:rPr lang="en-US" b="true" sz="2595">
                <a:solidFill>
                  <a:srgbClr val="004A55"/>
                </a:solidFill>
                <a:latin typeface="Montserrat Bold"/>
                <a:ea typeface="Montserrat Bold"/>
                <a:cs typeface="Montserrat Bold"/>
                <a:sym typeface="Montserrat Bold"/>
              </a:rPr>
              <a:t>Home Dashboard</a:t>
            </a:r>
            <a:r>
              <a:rPr lang="en-US" sz="2595">
                <a:solidFill>
                  <a:srgbClr val="004A55"/>
                </a:solidFill>
                <a:latin typeface="Montserrat"/>
                <a:ea typeface="Montserrat"/>
                <a:cs typeface="Montserrat"/>
                <a:sym typeface="Montserrat"/>
              </a:rPr>
              <a:t>: Tampilan utama untuk navigasi cepat.</a:t>
            </a:r>
          </a:p>
          <a:p>
            <a:pPr algn="l" marL="560340" indent="-280170" lvl="1">
              <a:lnSpc>
                <a:spcPts val="3633"/>
              </a:lnSpc>
              <a:buFont typeface="Arial"/>
              <a:buChar char="•"/>
            </a:pPr>
            <a:r>
              <a:rPr lang="en-US" b="true" sz="2595">
                <a:solidFill>
                  <a:srgbClr val="004A55"/>
                </a:solidFill>
                <a:latin typeface="Montserrat Bold"/>
                <a:ea typeface="Montserrat Bold"/>
                <a:cs typeface="Montserrat Bold"/>
                <a:sym typeface="Montserrat Bold"/>
              </a:rPr>
              <a:t>Course Management</a:t>
            </a:r>
            <a:r>
              <a:rPr lang="en-US" sz="2595">
                <a:solidFill>
                  <a:srgbClr val="004A55"/>
                </a:solidFill>
                <a:latin typeface="Montserrat"/>
                <a:ea typeface="Montserrat"/>
                <a:cs typeface="Montserrat"/>
                <a:sym typeface="Montserrat"/>
              </a:rPr>
              <a:t>: Pengguna bisa melihat daftar kelas, serta melakukan operasi CRUD (Create, Read, Update, Delete) data kelas.</a:t>
            </a:r>
          </a:p>
          <a:p>
            <a:pPr algn="l" marL="560340" indent="-280170" lvl="1">
              <a:lnSpc>
                <a:spcPts val="3633"/>
              </a:lnSpc>
              <a:buFont typeface="Arial"/>
              <a:buChar char="•"/>
            </a:pPr>
            <a:r>
              <a:rPr lang="en-US" b="true" sz="2595">
                <a:solidFill>
                  <a:srgbClr val="004A55"/>
                </a:solidFill>
                <a:latin typeface="Montserrat Bold"/>
                <a:ea typeface="Montserrat Bold"/>
                <a:cs typeface="Montserrat Bold"/>
                <a:sym typeface="Montserrat Bold"/>
              </a:rPr>
              <a:t>Todo &amp; Reminder</a:t>
            </a:r>
            <a:r>
              <a:rPr lang="en-US" sz="2595">
                <a:solidFill>
                  <a:srgbClr val="004A55"/>
                </a:solidFill>
                <a:latin typeface="Montserrat"/>
                <a:ea typeface="Montserrat"/>
                <a:cs typeface="Montserrat"/>
                <a:sym typeface="Montserrat"/>
              </a:rPr>
              <a:t>: Fitur produktivitas dengan CRUD tugas. Fitur ini spesial karena dilengkapi sistem pengingat ganda, yaitu Local Notification untuk alarm di perangkat dan FCM (Firebase Cloud Messaging) untuk notifikasi berbasis server.</a:t>
            </a:r>
          </a:p>
          <a:p>
            <a:pPr algn="l" marL="560340" indent="-280170" lvl="1">
              <a:lnSpc>
                <a:spcPts val="3633"/>
              </a:lnSpc>
              <a:buFont typeface="Arial"/>
              <a:buChar char="•"/>
            </a:pPr>
            <a:r>
              <a:rPr lang="en-US" b="true" sz="2595">
                <a:solidFill>
                  <a:srgbClr val="004A55"/>
                </a:solidFill>
                <a:latin typeface="Montserrat Bold"/>
                <a:ea typeface="Montserrat Bold"/>
                <a:cs typeface="Montserrat Bold"/>
                <a:sym typeface="Montserrat Bold"/>
              </a:rPr>
              <a:t>Account Menu</a:t>
            </a:r>
            <a:r>
              <a:rPr lang="en-US" sz="2595">
                <a:solidFill>
                  <a:srgbClr val="004A55"/>
                </a:solidFill>
                <a:latin typeface="Montserrat"/>
                <a:ea typeface="Montserrat"/>
                <a:cs typeface="Montserrat"/>
                <a:sym typeface="Montserrat"/>
              </a:rPr>
              <a:t>: Manajemen profil pengguna, termasuk Edit Profile dan Logout.</a:t>
            </a:r>
          </a:p>
          <a:p>
            <a:pPr algn="l">
              <a:lnSpc>
                <a:spcPts val="3633"/>
              </a:lnSpc>
            </a:pPr>
          </a:p>
        </p:txBody>
      </p:sp>
      <p:sp>
        <p:nvSpPr>
          <p:cNvPr name="Freeform 7" id="7"/>
          <p:cNvSpPr/>
          <p:nvPr/>
        </p:nvSpPr>
        <p:spPr>
          <a:xfrm flipH="false" flipV="false" rot="0">
            <a:off x="13379967" y="1029604"/>
            <a:ext cx="3745976" cy="8347578"/>
          </a:xfrm>
          <a:custGeom>
            <a:avLst/>
            <a:gdLst/>
            <a:ahLst/>
            <a:cxnLst/>
            <a:rect r="r" b="b" t="t" l="l"/>
            <a:pathLst>
              <a:path h="8347578" w="3745976">
                <a:moveTo>
                  <a:pt x="0" y="0"/>
                </a:moveTo>
                <a:lnTo>
                  <a:pt x="3745976" y="0"/>
                </a:lnTo>
                <a:lnTo>
                  <a:pt x="3745976" y="8347579"/>
                </a:lnTo>
                <a:lnTo>
                  <a:pt x="0" y="8347579"/>
                </a:lnTo>
                <a:lnTo>
                  <a:pt x="0" y="0"/>
                </a:lnTo>
                <a:close/>
              </a:path>
            </a:pathLst>
          </a:custGeom>
          <a:blipFill>
            <a:blip r:embed="rId7"/>
            <a:stretch>
              <a:fillRect l="0" t="0" r="0" b="0"/>
            </a:stretch>
          </a:blipFill>
        </p:spPr>
      </p:sp>
      <p:sp>
        <p:nvSpPr>
          <p:cNvPr name="Freeform 8" id="8"/>
          <p:cNvSpPr/>
          <p:nvPr/>
        </p:nvSpPr>
        <p:spPr>
          <a:xfrm flipH="false" flipV="false" rot="0">
            <a:off x="12573051" y="795137"/>
            <a:ext cx="5321707" cy="8765186"/>
          </a:xfrm>
          <a:custGeom>
            <a:avLst/>
            <a:gdLst/>
            <a:ahLst/>
            <a:cxnLst/>
            <a:rect r="r" b="b" t="t" l="l"/>
            <a:pathLst>
              <a:path h="8765186" w="5321707">
                <a:moveTo>
                  <a:pt x="0" y="0"/>
                </a:moveTo>
                <a:lnTo>
                  <a:pt x="5321707" y="0"/>
                </a:lnTo>
                <a:lnTo>
                  <a:pt x="5321707" y="8765186"/>
                </a:lnTo>
                <a:lnTo>
                  <a:pt x="0" y="8765186"/>
                </a:lnTo>
                <a:lnTo>
                  <a:pt x="0" y="0"/>
                </a:lnTo>
                <a:close/>
              </a:path>
            </a:pathLst>
          </a:custGeom>
          <a:blipFill>
            <a:blip r:embed="rId8"/>
            <a:stretch>
              <a:fillRect l="-956" t="0" r="-956" b="0"/>
            </a:stretch>
          </a:blipFill>
        </p:spPr>
      </p:sp>
      <p:sp>
        <p:nvSpPr>
          <p:cNvPr name="TextBox 9" id="9"/>
          <p:cNvSpPr txBox="true"/>
          <p:nvPr/>
        </p:nvSpPr>
        <p:spPr>
          <a:xfrm rot="0">
            <a:off x="1028700" y="2222679"/>
            <a:ext cx="8859702" cy="1003145"/>
          </a:xfrm>
          <a:prstGeom prst="rect">
            <a:avLst/>
          </a:prstGeom>
        </p:spPr>
        <p:txBody>
          <a:bodyPr anchor="t" rtlCol="false" tIns="0" lIns="0" bIns="0" rIns="0">
            <a:spAutoFit/>
          </a:bodyPr>
          <a:lstStyle/>
          <a:p>
            <a:pPr algn="l">
              <a:lnSpc>
                <a:spcPts val="7562"/>
              </a:lnSpc>
            </a:pPr>
            <a:r>
              <a:rPr lang="en-US" sz="7414" b="true">
                <a:solidFill>
                  <a:srgbClr val="004A55"/>
                </a:solidFill>
                <a:latin typeface="Montserrat Bold"/>
                <a:ea typeface="Montserrat Bold"/>
                <a:cs typeface="Montserrat Bold"/>
                <a:sym typeface="Montserrat Bold"/>
              </a:rPr>
              <a:t>Feature Overview</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6F6F6"/>
        </a:solidFill>
      </p:bgPr>
    </p:bg>
    <p:spTree>
      <p:nvGrpSpPr>
        <p:cNvPr id="1" name=""/>
        <p:cNvGrpSpPr/>
        <p:nvPr/>
      </p:nvGrpSpPr>
      <p:grpSpPr>
        <a:xfrm>
          <a:off x="0" y="0"/>
          <a:ext cx="0" cy="0"/>
          <a:chOff x="0" y="0"/>
          <a:chExt cx="0" cy="0"/>
        </a:xfrm>
      </p:grpSpPr>
      <p:sp>
        <p:nvSpPr>
          <p:cNvPr name="Freeform 2" id="2"/>
          <p:cNvSpPr/>
          <p:nvPr/>
        </p:nvSpPr>
        <p:spPr>
          <a:xfrm flipH="true" flipV="false" rot="0">
            <a:off x="9144000" y="0"/>
            <a:ext cx="10287000" cy="10287000"/>
          </a:xfrm>
          <a:custGeom>
            <a:avLst/>
            <a:gdLst/>
            <a:ahLst/>
            <a:cxnLst/>
            <a:rect r="r" b="b" t="t" l="l"/>
            <a:pathLst>
              <a:path h="10287000" w="10287000">
                <a:moveTo>
                  <a:pt x="10287000" y="0"/>
                </a:moveTo>
                <a:lnTo>
                  <a:pt x="0" y="0"/>
                </a:lnTo>
                <a:lnTo>
                  <a:pt x="0" y="10287000"/>
                </a:lnTo>
                <a:lnTo>
                  <a:pt x="10287000" y="10287000"/>
                </a:lnTo>
                <a:lnTo>
                  <a:pt x="10287000" y="0"/>
                </a:lnTo>
                <a:close/>
              </a:path>
            </a:pathLst>
          </a:custGeom>
          <a:blipFill>
            <a:blip r:embed="rId2">
              <a:alphaModFix amt="25000"/>
            </a:blip>
            <a:stretch>
              <a:fillRect l="0" t="0" r="0" b="0"/>
            </a:stretch>
          </a:blipFill>
        </p:spPr>
      </p:sp>
      <p:sp>
        <p:nvSpPr>
          <p:cNvPr name="Freeform 3" id="3"/>
          <p:cNvSpPr/>
          <p:nvPr/>
        </p:nvSpPr>
        <p:spPr>
          <a:xfrm flipH="false" flipV="false" rot="0">
            <a:off x="6670238" y="0"/>
            <a:ext cx="11617762" cy="10287000"/>
          </a:xfrm>
          <a:custGeom>
            <a:avLst/>
            <a:gdLst/>
            <a:ahLst/>
            <a:cxnLst/>
            <a:rect r="r" b="b" t="t" l="l"/>
            <a:pathLst>
              <a:path h="10287000" w="11617762">
                <a:moveTo>
                  <a:pt x="0" y="0"/>
                </a:moveTo>
                <a:lnTo>
                  <a:pt x="11617762" y="0"/>
                </a:lnTo>
                <a:lnTo>
                  <a:pt x="11617762" y="10287000"/>
                </a:lnTo>
                <a:lnTo>
                  <a:pt x="0" y="102870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143000" y="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alphaModFix amt="25000"/>
            </a:blip>
            <a:stretch>
              <a:fillRect l="0" t="0" r="0" b="0"/>
            </a:stretch>
          </a:blipFill>
        </p:spPr>
      </p:sp>
      <p:sp>
        <p:nvSpPr>
          <p:cNvPr name="Freeform 5" id="5"/>
          <p:cNvSpPr/>
          <p:nvPr/>
        </p:nvSpPr>
        <p:spPr>
          <a:xfrm flipH="true" flipV="false" rot="0">
            <a:off x="1028700" y="1029604"/>
            <a:ext cx="805018" cy="805018"/>
          </a:xfrm>
          <a:custGeom>
            <a:avLst/>
            <a:gdLst/>
            <a:ahLst/>
            <a:cxnLst/>
            <a:rect r="r" b="b" t="t" l="l"/>
            <a:pathLst>
              <a:path h="805018" w="805018">
                <a:moveTo>
                  <a:pt x="805018" y="0"/>
                </a:moveTo>
                <a:lnTo>
                  <a:pt x="0" y="0"/>
                </a:lnTo>
                <a:lnTo>
                  <a:pt x="0" y="805018"/>
                </a:lnTo>
                <a:lnTo>
                  <a:pt x="805018" y="805018"/>
                </a:lnTo>
                <a:lnTo>
                  <a:pt x="805018"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true" rot="0">
            <a:off x="15280012" y="7300604"/>
            <a:ext cx="1979288" cy="1957696"/>
          </a:xfrm>
          <a:custGeom>
            <a:avLst/>
            <a:gdLst/>
            <a:ahLst/>
            <a:cxnLst/>
            <a:rect r="r" b="b" t="t" l="l"/>
            <a:pathLst>
              <a:path h="1957696" w="1979288">
                <a:moveTo>
                  <a:pt x="0" y="1957696"/>
                </a:moveTo>
                <a:lnTo>
                  <a:pt x="1979288" y="1957696"/>
                </a:lnTo>
                <a:lnTo>
                  <a:pt x="1979288" y="0"/>
                </a:lnTo>
                <a:lnTo>
                  <a:pt x="0" y="0"/>
                </a:lnTo>
                <a:lnTo>
                  <a:pt x="0" y="1957696"/>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10058519" y="2545592"/>
            <a:ext cx="6872381" cy="6447543"/>
          </a:xfrm>
          <a:custGeom>
            <a:avLst/>
            <a:gdLst/>
            <a:ahLst/>
            <a:cxnLst/>
            <a:rect r="r" b="b" t="t" l="l"/>
            <a:pathLst>
              <a:path h="6447543" w="6872381">
                <a:moveTo>
                  <a:pt x="0" y="0"/>
                </a:moveTo>
                <a:lnTo>
                  <a:pt x="6872381" y="0"/>
                </a:lnTo>
                <a:lnTo>
                  <a:pt x="6872381" y="6447543"/>
                </a:lnTo>
                <a:lnTo>
                  <a:pt x="0" y="644754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8" id="8"/>
          <p:cNvSpPr txBox="true"/>
          <p:nvPr/>
        </p:nvSpPr>
        <p:spPr>
          <a:xfrm rot="0">
            <a:off x="1028700" y="2732254"/>
            <a:ext cx="8556740" cy="1960621"/>
          </a:xfrm>
          <a:prstGeom prst="rect">
            <a:avLst/>
          </a:prstGeom>
        </p:spPr>
        <p:txBody>
          <a:bodyPr anchor="t" rtlCol="false" tIns="0" lIns="0" bIns="0" rIns="0">
            <a:spAutoFit/>
          </a:bodyPr>
          <a:lstStyle/>
          <a:p>
            <a:pPr algn="l">
              <a:lnSpc>
                <a:spcPts val="7562"/>
              </a:lnSpc>
            </a:pPr>
            <a:r>
              <a:rPr lang="en-US" sz="7414" b="true">
                <a:solidFill>
                  <a:srgbClr val="004A55"/>
                </a:solidFill>
                <a:latin typeface="Montserrat Bold"/>
                <a:ea typeface="Montserrat Bold"/>
                <a:cs typeface="Montserrat Bold"/>
                <a:sym typeface="Montserrat Bold"/>
              </a:rPr>
              <a:t>Technical Implementation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6F6F6"/>
        </a:solidFill>
      </p:bgPr>
    </p:bg>
    <p:spTree>
      <p:nvGrpSpPr>
        <p:cNvPr id="1" name=""/>
        <p:cNvGrpSpPr/>
        <p:nvPr/>
      </p:nvGrpSpPr>
      <p:grpSpPr>
        <a:xfrm>
          <a:off x="0" y="0"/>
          <a:ext cx="0" cy="0"/>
          <a:chOff x="0" y="0"/>
          <a:chExt cx="0" cy="0"/>
        </a:xfrm>
      </p:grpSpPr>
      <p:sp>
        <p:nvSpPr>
          <p:cNvPr name="Freeform 2" id="2"/>
          <p:cNvSpPr/>
          <p:nvPr/>
        </p:nvSpPr>
        <p:spPr>
          <a:xfrm flipH="true" flipV="false" rot="0">
            <a:off x="9144000" y="0"/>
            <a:ext cx="10287000" cy="10287000"/>
          </a:xfrm>
          <a:custGeom>
            <a:avLst/>
            <a:gdLst/>
            <a:ahLst/>
            <a:cxnLst/>
            <a:rect r="r" b="b" t="t" l="l"/>
            <a:pathLst>
              <a:path h="10287000" w="10287000">
                <a:moveTo>
                  <a:pt x="10287000" y="0"/>
                </a:moveTo>
                <a:lnTo>
                  <a:pt x="0" y="0"/>
                </a:lnTo>
                <a:lnTo>
                  <a:pt x="0" y="10287000"/>
                </a:lnTo>
                <a:lnTo>
                  <a:pt x="10287000" y="10287000"/>
                </a:lnTo>
                <a:lnTo>
                  <a:pt x="10287000" y="0"/>
                </a:lnTo>
                <a:close/>
              </a:path>
            </a:pathLst>
          </a:custGeom>
          <a:blipFill>
            <a:blip r:embed="rId2">
              <a:alphaModFix amt="25000"/>
            </a:blip>
            <a:stretch>
              <a:fillRect l="0" t="0" r="0" b="0"/>
            </a:stretch>
          </a:blipFill>
        </p:spPr>
      </p:sp>
      <p:sp>
        <p:nvSpPr>
          <p:cNvPr name="Freeform 3" id="3"/>
          <p:cNvSpPr/>
          <p:nvPr/>
        </p:nvSpPr>
        <p:spPr>
          <a:xfrm flipH="false" flipV="false" rot="0">
            <a:off x="-1143000" y="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alphaModFix amt="25000"/>
            </a:blip>
            <a:stretch>
              <a:fillRect l="0" t="0" r="0" b="0"/>
            </a:stretch>
          </a:blipFill>
        </p:spPr>
      </p:sp>
      <p:sp>
        <p:nvSpPr>
          <p:cNvPr name="Freeform 4" id="4"/>
          <p:cNvSpPr/>
          <p:nvPr/>
        </p:nvSpPr>
        <p:spPr>
          <a:xfrm flipH="true" flipV="false" rot="0">
            <a:off x="1028700" y="1029604"/>
            <a:ext cx="805018" cy="805018"/>
          </a:xfrm>
          <a:custGeom>
            <a:avLst/>
            <a:gdLst/>
            <a:ahLst/>
            <a:cxnLst/>
            <a:rect r="r" b="b" t="t" l="l"/>
            <a:pathLst>
              <a:path h="805018" w="805018">
                <a:moveTo>
                  <a:pt x="805018" y="0"/>
                </a:moveTo>
                <a:lnTo>
                  <a:pt x="0" y="0"/>
                </a:lnTo>
                <a:lnTo>
                  <a:pt x="0" y="805018"/>
                </a:lnTo>
                <a:lnTo>
                  <a:pt x="805018" y="805018"/>
                </a:lnTo>
                <a:lnTo>
                  <a:pt x="805018"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true" rot="0">
            <a:off x="15280012" y="7300604"/>
            <a:ext cx="1979288" cy="1957696"/>
          </a:xfrm>
          <a:custGeom>
            <a:avLst/>
            <a:gdLst/>
            <a:ahLst/>
            <a:cxnLst/>
            <a:rect r="r" b="b" t="t" l="l"/>
            <a:pathLst>
              <a:path h="1957696" w="1979288">
                <a:moveTo>
                  <a:pt x="0" y="1957696"/>
                </a:moveTo>
                <a:lnTo>
                  <a:pt x="1979288" y="1957696"/>
                </a:lnTo>
                <a:lnTo>
                  <a:pt x="1979288" y="0"/>
                </a:lnTo>
                <a:lnTo>
                  <a:pt x="0" y="0"/>
                </a:lnTo>
                <a:lnTo>
                  <a:pt x="0" y="1957696"/>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3123879" y="4191830"/>
            <a:ext cx="2832889" cy="5214681"/>
          </a:xfrm>
          <a:custGeom>
            <a:avLst/>
            <a:gdLst/>
            <a:ahLst/>
            <a:cxnLst/>
            <a:rect r="r" b="b" t="t" l="l"/>
            <a:pathLst>
              <a:path h="5214681" w="2832889">
                <a:moveTo>
                  <a:pt x="0" y="0"/>
                </a:moveTo>
                <a:lnTo>
                  <a:pt x="2832889" y="0"/>
                </a:lnTo>
                <a:lnTo>
                  <a:pt x="2832889" y="5214682"/>
                </a:lnTo>
                <a:lnTo>
                  <a:pt x="0" y="5214682"/>
                </a:lnTo>
                <a:lnTo>
                  <a:pt x="0" y="0"/>
                </a:lnTo>
                <a:close/>
              </a:path>
            </a:pathLst>
          </a:custGeom>
          <a:blipFill>
            <a:blip r:embed="rId7"/>
            <a:stretch>
              <a:fillRect l="0" t="0" r="0" b="0"/>
            </a:stretch>
          </a:blipFill>
        </p:spPr>
      </p:sp>
      <p:sp>
        <p:nvSpPr>
          <p:cNvPr name="Freeform 7" id="7"/>
          <p:cNvSpPr/>
          <p:nvPr/>
        </p:nvSpPr>
        <p:spPr>
          <a:xfrm flipH="false" flipV="false" rot="0">
            <a:off x="7587649" y="4191830"/>
            <a:ext cx="3112702" cy="3701591"/>
          </a:xfrm>
          <a:custGeom>
            <a:avLst/>
            <a:gdLst/>
            <a:ahLst/>
            <a:cxnLst/>
            <a:rect r="r" b="b" t="t" l="l"/>
            <a:pathLst>
              <a:path h="3701591" w="3112702">
                <a:moveTo>
                  <a:pt x="0" y="0"/>
                </a:moveTo>
                <a:lnTo>
                  <a:pt x="3112702" y="0"/>
                </a:lnTo>
                <a:lnTo>
                  <a:pt x="3112702" y="3701592"/>
                </a:lnTo>
                <a:lnTo>
                  <a:pt x="0" y="3701592"/>
                </a:lnTo>
                <a:lnTo>
                  <a:pt x="0" y="0"/>
                </a:lnTo>
                <a:close/>
              </a:path>
            </a:pathLst>
          </a:custGeom>
          <a:blipFill>
            <a:blip r:embed="rId8"/>
            <a:stretch>
              <a:fillRect l="0" t="0" r="0" b="0"/>
            </a:stretch>
          </a:blipFill>
        </p:spPr>
      </p:sp>
      <p:sp>
        <p:nvSpPr>
          <p:cNvPr name="Freeform 8" id="8"/>
          <p:cNvSpPr/>
          <p:nvPr/>
        </p:nvSpPr>
        <p:spPr>
          <a:xfrm flipH="false" flipV="false" rot="0">
            <a:off x="11450463" y="5620424"/>
            <a:ext cx="923304" cy="844403"/>
          </a:xfrm>
          <a:custGeom>
            <a:avLst/>
            <a:gdLst/>
            <a:ahLst/>
            <a:cxnLst/>
            <a:rect r="r" b="b" t="t" l="l"/>
            <a:pathLst>
              <a:path h="844403" w="923304">
                <a:moveTo>
                  <a:pt x="0" y="0"/>
                </a:moveTo>
                <a:lnTo>
                  <a:pt x="923304" y="0"/>
                </a:lnTo>
                <a:lnTo>
                  <a:pt x="923304" y="844404"/>
                </a:lnTo>
                <a:lnTo>
                  <a:pt x="0" y="84440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9" id="9"/>
          <p:cNvSpPr txBox="true"/>
          <p:nvPr/>
        </p:nvSpPr>
        <p:spPr>
          <a:xfrm rot="0">
            <a:off x="1028700" y="2732254"/>
            <a:ext cx="13848166" cy="1003145"/>
          </a:xfrm>
          <a:prstGeom prst="rect">
            <a:avLst/>
          </a:prstGeom>
        </p:spPr>
        <p:txBody>
          <a:bodyPr anchor="t" rtlCol="false" tIns="0" lIns="0" bIns="0" rIns="0">
            <a:spAutoFit/>
          </a:bodyPr>
          <a:lstStyle/>
          <a:p>
            <a:pPr algn="l">
              <a:lnSpc>
                <a:spcPts val="7562"/>
              </a:lnSpc>
            </a:pPr>
            <a:r>
              <a:rPr lang="en-US" sz="7414" b="true">
                <a:solidFill>
                  <a:srgbClr val="004A55"/>
                </a:solidFill>
                <a:latin typeface="Montserrat Bold"/>
                <a:ea typeface="Montserrat Bold"/>
                <a:cs typeface="Montserrat Bold"/>
                <a:sym typeface="Montserrat Bold"/>
              </a:rPr>
              <a:t>Feature Based Architecture</a:t>
            </a:r>
          </a:p>
        </p:txBody>
      </p:sp>
      <p:sp>
        <p:nvSpPr>
          <p:cNvPr name="TextBox 10" id="10"/>
          <p:cNvSpPr txBox="true"/>
          <p:nvPr/>
        </p:nvSpPr>
        <p:spPr>
          <a:xfrm rot="0">
            <a:off x="1080205" y="4144205"/>
            <a:ext cx="5143500" cy="4096259"/>
          </a:xfrm>
          <a:prstGeom prst="rect">
            <a:avLst/>
          </a:prstGeom>
        </p:spPr>
        <p:txBody>
          <a:bodyPr anchor="t" rtlCol="false" tIns="0" lIns="0" bIns="0" rIns="0">
            <a:spAutoFit/>
          </a:bodyPr>
          <a:lstStyle/>
          <a:p>
            <a:pPr algn="l" marL="560340" indent="-280170" lvl="1">
              <a:lnSpc>
                <a:spcPts val="3633"/>
              </a:lnSpc>
              <a:buFont typeface="Arial"/>
              <a:buChar char="•"/>
            </a:pPr>
            <a:r>
              <a:rPr lang="en-US" b="true" sz="2595">
                <a:solidFill>
                  <a:srgbClr val="004A55"/>
                </a:solidFill>
                <a:latin typeface="Montserrat Bold"/>
                <a:ea typeface="Montserrat Bold"/>
                <a:cs typeface="Montserrat Bold"/>
                <a:sym typeface="Montserrat Bold"/>
              </a:rPr>
              <a:t>Pattern: </a:t>
            </a:r>
            <a:r>
              <a:rPr lang="en-US" sz="2595">
                <a:solidFill>
                  <a:srgbClr val="004A55"/>
                </a:solidFill>
                <a:latin typeface="Montserrat"/>
                <a:ea typeface="Montserrat"/>
                <a:cs typeface="Montserrat"/>
                <a:sym typeface="Montserrat"/>
              </a:rPr>
              <a:t>Feature-First / Feature-Based.</a:t>
            </a:r>
          </a:p>
          <a:p>
            <a:pPr algn="l" marL="560340" indent="-280170" lvl="1">
              <a:lnSpc>
                <a:spcPts val="3633"/>
              </a:lnSpc>
              <a:buFont typeface="Arial"/>
              <a:buChar char="•"/>
            </a:pPr>
            <a:r>
              <a:rPr lang="en-US" b="true" sz="2595">
                <a:solidFill>
                  <a:srgbClr val="004A55"/>
                </a:solidFill>
                <a:latin typeface="Montserrat Bold"/>
                <a:ea typeface="Montserrat Bold"/>
                <a:cs typeface="Montserrat Bold"/>
                <a:sym typeface="Montserrat Bold"/>
              </a:rPr>
              <a:t>Stru</a:t>
            </a:r>
            <a:r>
              <a:rPr lang="en-US" b="true" sz="2595">
                <a:solidFill>
                  <a:srgbClr val="004A55"/>
                </a:solidFill>
                <a:latin typeface="Montserrat Bold"/>
                <a:ea typeface="Montserrat Bold"/>
                <a:cs typeface="Montserrat Bold"/>
                <a:sym typeface="Montserrat Bold"/>
              </a:rPr>
              <a:t>cture: </a:t>
            </a:r>
            <a:r>
              <a:rPr lang="en-US" sz="2595">
                <a:solidFill>
                  <a:srgbClr val="004A55"/>
                </a:solidFill>
                <a:latin typeface="Montserrat"/>
                <a:ea typeface="Montserrat"/>
                <a:cs typeface="Montserrat"/>
                <a:sym typeface="Montserrat"/>
              </a:rPr>
              <a:t>Folder dipisah berdasarkan fitur (Auth, Course, Todo, Account).</a:t>
            </a:r>
          </a:p>
          <a:p>
            <a:pPr algn="l" marL="560340" indent="-280170" lvl="1">
              <a:lnSpc>
                <a:spcPts val="3633"/>
              </a:lnSpc>
              <a:buFont typeface="Arial"/>
              <a:buChar char="•"/>
            </a:pPr>
            <a:r>
              <a:rPr lang="en-US" b="true" sz="2595">
                <a:solidFill>
                  <a:srgbClr val="004A55"/>
                </a:solidFill>
                <a:latin typeface="Montserrat Bold"/>
                <a:ea typeface="Montserrat Bold"/>
                <a:cs typeface="Montserrat Bold"/>
                <a:sym typeface="Montserrat Bold"/>
              </a:rPr>
              <a:t>Benefit: </a:t>
            </a:r>
            <a:r>
              <a:rPr lang="en-US" sz="2595">
                <a:solidFill>
                  <a:srgbClr val="004A55"/>
                </a:solidFill>
                <a:latin typeface="Montserrat"/>
                <a:ea typeface="Montserrat"/>
                <a:cs typeface="Montserrat"/>
                <a:sym typeface="Montserrat"/>
              </a:rPr>
              <a:t>Modular, mudah dirawat (maintainable), dan skalabel.</a:t>
            </a:r>
          </a:p>
          <a:p>
            <a:pPr algn="l">
              <a:lnSpc>
                <a:spcPts val="3633"/>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6F6F6"/>
        </a:solidFill>
      </p:bgPr>
    </p:bg>
    <p:spTree>
      <p:nvGrpSpPr>
        <p:cNvPr id="1" name=""/>
        <p:cNvGrpSpPr/>
        <p:nvPr/>
      </p:nvGrpSpPr>
      <p:grpSpPr>
        <a:xfrm>
          <a:off x="0" y="0"/>
          <a:ext cx="0" cy="0"/>
          <a:chOff x="0" y="0"/>
          <a:chExt cx="0" cy="0"/>
        </a:xfrm>
      </p:grpSpPr>
      <p:sp>
        <p:nvSpPr>
          <p:cNvPr name="Freeform 2" id="2"/>
          <p:cNvSpPr/>
          <p:nvPr/>
        </p:nvSpPr>
        <p:spPr>
          <a:xfrm flipH="true" flipV="false" rot="0">
            <a:off x="9144000" y="0"/>
            <a:ext cx="10287000" cy="10287000"/>
          </a:xfrm>
          <a:custGeom>
            <a:avLst/>
            <a:gdLst/>
            <a:ahLst/>
            <a:cxnLst/>
            <a:rect r="r" b="b" t="t" l="l"/>
            <a:pathLst>
              <a:path h="10287000" w="10287000">
                <a:moveTo>
                  <a:pt x="10287000" y="0"/>
                </a:moveTo>
                <a:lnTo>
                  <a:pt x="0" y="0"/>
                </a:lnTo>
                <a:lnTo>
                  <a:pt x="0" y="10287000"/>
                </a:lnTo>
                <a:lnTo>
                  <a:pt x="10287000" y="10287000"/>
                </a:lnTo>
                <a:lnTo>
                  <a:pt x="10287000" y="0"/>
                </a:lnTo>
                <a:close/>
              </a:path>
            </a:pathLst>
          </a:custGeom>
          <a:blipFill>
            <a:blip r:embed="rId2">
              <a:alphaModFix amt="25000"/>
            </a:blip>
            <a:stretch>
              <a:fillRect l="0" t="0" r="0" b="0"/>
            </a:stretch>
          </a:blipFill>
        </p:spPr>
      </p:sp>
      <p:sp>
        <p:nvSpPr>
          <p:cNvPr name="Freeform 3" id="3"/>
          <p:cNvSpPr/>
          <p:nvPr/>
        </p:nvSpPr>
        <p:spPr>
          <a:xfrm flipH="false" flipV="false" rot="0">
            <a:off x="-1143000" y="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alphaModFix amt="25000"/>
            </a:blip>
            <a:stretch>
              <a:fillRect l="0" t="0" r="0" b="0"/>
            </a:stretch>
          </a:blipFill>
        </p:spPr>
      </p:sp>
      <p:sp>
        <p:nvSpPr>
          <p:cNvPr name="Freeform 4" id="4"/>
          <p:cNvSpPr/>
          <p:nvPr/>
        </p:nvSpPr>
        <p:spPr>
          <a:xfrm flipH="true" flipV="false" rot="0">
            <a:off x="1028700" y="1029604"/>
            <a:ext cx="805018" cy="805018"/>
          </a:xfrm>
          <a:custGeom>
            <a:avLst/>
            <a:gdLst/>
            <a:ahLst/>
            <a:cxnLst/>
            <a:rect r="r" b="b" t="t" l="l"/>
            <a:pathLst>
              <a:path h="805018" w="805018">
                <a:moveTo>
                  <a:pt x="805018" y="0"/>
                </a:moveTo>
                <a:lnTo>
                  <a:pt x="0" y="0"/>
                </a:lnTo>
                <a:lnTo>
                  <a:pt x="0" y="805018"/>
                </a:lnTo>
                <a:lnTo>
                  <a:pt x="805018" y="805018"/>
                </a:lnTo>
                <a:lnTo>
                  <a:pt x="805018"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true" rot="0">
            <a:off x="15280012" y="7300604"/>
            <a:ext cx="1979288" cy="1957696"/>
          </a:xfrm>
          <a:custGeom>
            <a:avLst/>
            <a:gdLst/>
            <a:ahLst/>
            <a:cxnLst/>
            <a:rect r="r" b="b" t="t" l="l"/>
            <a:pathLst>
              <a:path h="1957696" w="1979288">
                <a:moveTo>
                  <a:pt x="0" y="1957696"/>
                </a:moveTo>
                <a:lnTo>
                  <a:pt x="1979288" y="1957696"/>
                </a:lnTo>
                <a:lnTo>
                  <a:pt x="1979288" y="0"/>
                </a:lnTo>
                <a:lnTo>
                  <a:pt x="0" y="0"/>
                </a:lnTo>
                <a:lnTo>
                  <a:pt x="0" y="1957696"/>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1028700" y="2732254"/>
            <a:ext cx="13848166" cy="1003145"/>
          </a:xfrm>
          <a:prstGeom prst="rect">
            <a:avLst/>
          </a:prstGeom>
        </p:spPr>
        <p:txBody>
          <a:bodyPr anchor="t" rtlCol="false" tIns="0" lIns="0" bIns="0" rIns="0">
            <a:spAutoFit/>
          </a:bodyPr>
          <a:lstStyle/>
          <a:p>
            <a:pPr algn="l">
              <a:lnSpc>
                <a:spcPts val="7562"/>
              </a:lnSpc>
            </a:pPr>
            <a:r>
              <a:rPr lang="en-US" sz="7414" b="true">
                <a:solidFill>
                  <a:srgbClr val="004A55"/>
                </a:solidFill>
                <a:latin typeface="Montserrat Bold"/>
                <a:ea typeface="Montserrat Bold"/>
                <a:cs typeface="Montserrat Bold"/>
                <a:sym typeface="Montserrat Bold"/>
              </a:rPr>
              <a:t>State Management: GetX</a:t>
            </a:r>
          </a:p>
        </p:txBody>
      </p:sp>
      <p:sp>
        <p:nvSpPr>
          <p:cNvPr name="TextBox 7" id="7"/>
          <p:cNvSpPr txBox="true"/>
          <p:nvPr/>
        </p:nvSpPr>
        <p:spPr>
          <a:xfrm rot="0">
            <a:off x="1028700" y="4118691"/>
            <a:ext cx="9437398" cy="2724740"/>
          </a:xfrm>
          <a:prstGeom prst="rect">
            <a:avLst/>
          </a:prstGeom>
        </p:spPr>
        <p:txBody>
          <a:bodyPr anchor="t" rtlCol="false" tIns="0" lIns="0" bIns="0" rIns="0">
            <a:spAutoFit/>
          </a:bodyPr>
          <a:lstStyle/>
          <a:p>
            <a:pPr algn="l" marL="560340" indent="-280170" lvl="1">
              <a:lnSpc>
                <a:spcPts val="3633"/>
              </a:lnSpc>
              <a:buFont typeface="Arial"/>
              <a:buChar char="•"/>
            </a:pPr>
            <a:r>
              <a:rPr lang="en-US" b="true" sz="2595">
                <a:solidFill>
                  <a:srgbClr val="004A55"/>
                </a:solidFill>
                <a:latin typeface="Montserrat Bold"/>
                <a:ea typeface="Montserrat Bold"/>
                <a:cs typeface="Montserrat Bold"/>
                <a:sym typeface="Montserrat Bold"/>
              </a:rPr>
              <a:t>Library: </a:t>
            </a:r>
            <a:r>
              <a:rPr lang="en-US" sz="2595">
                <a:solidFill>
                  <a:srgbClr val="004A55"/>
                </a:solidFill>
                <a:latin typeface="Montserrat"/>
                <a:ea typeface="Montserrat"/>
                <a:cs typeface="Montserrat"/>
                <a:sym typeface="Montserrat"/>
              </a:rPr>
              <a:t>GetX.</a:t>
            </a:r>
          </a:p>
          <a:p>
            <a:pPr algn="l" marL="560340" indent="-280170" lvl="1">
              <a:lnSpc>
                <a:spcPts val="3633"/>
              </a:lnSpc>
              <a:buFont typeface="Arial"/>
              <a:buChar char="•"/>
            </a:pPr>
            <a:r>
              <a:rPr lang="en-US" b="true" sz="2595">
                <a:solidFill>
                  <a:srgbClr val="004A55"/>
                </a:solidFill>
                <a:latin typeface="Montserrat Bold"/>
                <a:ea typeface="Montserrat Bold"/>
                <a:cs typeface="Montserrat Bold"/>
                <a:sym typeface="Montserrat Bold"/>
              </a:rPr>
              <a:t>Key C</a:t>
            </a:r>
            <a:r>
              <a:rPr lang="en-US" b="true" sz="2595">
                <a:solidFill>
                  <a:srgbClr val="004A55"/>
                </a:solidFill>
                <a:latin typeface="Montserrat Bold"/>
                <a:ea typeface="Montserrat Bold"/>
                <a:cs typeface="Montserrat Bold"/>
                <a:sym typeface="Montserrat Bold"/>
              </a:rPr>
              <a:t>oncept: </a:t>
            </a:r>
            <a:r>
              <a:rPr lang="en-US" sz="2595">
                <a:solidFill>
                  <a:srgbClr val="004A55"/>
                </a:solidFill>
                <a:latin typeface="Montserrat"/>
                <a:ea typeface="Montserrat"/>
                <a:cs typeface="Montserrat"/>
                <a:sym typeface="Montserrat"/>
              </a:rPr>
              <a:t>Reactive State Management (Rx variables).</a:t>
            </a:r>
          </a:p>
          <a:p>
            <a:pPr algn="l" marL="560340" indent="-280170" lvl="1">
              <a:lnSpc>
                <a:spcPts val="3633"/>
              </a:lnSpc>
              <a:buFont typeface="Arial"/>
              <a:buChar char="•"/>
            </a:pPr>
            <a:r>
              <a:rPr lang="en-US" b="true" sz="2595">
                <a:solidFill>
                  <a:srgbClr val="004A55"/>
                </a:solidFill>
                <a:latin typeface="Montserrat Bold"/>
                <a:ea typeface="Montserrat Bold"/>
                <a:cs typeface="Montserrat Bold"/>
                <a:sym typeface="Montserrat Bold"/>
              </a:rPr>
              <a:t>Be</a:t>
            </a:r>
            <a:r>
              <a:rPr lang="en-US" b="true" sz="2595">
                <a:solidFill>
                  <a:srgbClr val="004A55"/>
                </a:solidFill>
                <a:latin typeface="Montserrat Bold"/>
                <a:ea typeface="Montserrat Bold"/>
                <a:cs typeface="Montserrat Bold"/>
                <a:sym typeface="Montserrat Bold"/>
              </a:rPr>
              <a:t>nefit: </a:t>
            </a:r>
            <a:r>
              <a:rPr lang="en-US" sz="2595">
                <a:solidFill>
                  <a:srgbClr val="004A55"/>
                </a:solidFill>
                <a:latin typeface="Montserrat"/>
                <a:ea typeface="Montserrat"/>
                <a:cs typeface="Montserrat"/>
                <a:sym typeface="Montserrat"/>
              </a:rPr>
              <a:t>Performa tinggi (ringan), manajemen memori efisien, memisahkan Logic dan UI.</a:t>
            </a:r>
          </a:p>
          <a:p>
            <a:pPr algn="l">
              <a:lnSpc>
                <a:spcPts val="3633"/>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6F6F6"/>
        </a:solidFill>
      </p:bgPr>
    </p:bg>
    <p:spTree>
      <p:nvGrpSpPr>
        <p:cNvPr id="1" name=""/>
        <p:cNvGrpSpPr/>
        <p:nvPr/>
      </p:nvGrpSpPr>
      <p:grpSpPr>
        <a:xfrm>
          <a:off x="0" y="0"/>
          <a:ext cx="0" cy="0"/>
          <a:chOff x="0" y="0"/>
          <a:chExt cx="0" cy="0"/>
        </a:xfrm>
      </p:grpSpPr>
      <p:sp>
        <p:nvSpPr>
          <p:cNvPr name="Freeform 2" id="2"/>
          <p:cNvSpPr/>
          <p:nvPr/>
        </p:nvSpPr>
        <p:spPr>
          <a:xfrm flipH="true" flipV="false" rot="0">
            <a:off x="9144000" y="0"/>
            <a:ext cx="10287000" cy="10287000"/>
          </a:xfrm>
          <a:custGeom>
            <a:avLst/>
            <a:gdLst/>
            <a:ahLst/>
            <a:cxnLst/>
            <a:rect r="r" b="b" t="t" l="l"/>
            <a:pathLst>
              <a:path h="10287000" w="10287000">
                <a:moveTo>
                  <a:pt x="10287000" y="0"/>
                </a:moveTo>
                <a:lnTo>
                  <a:pt x="0" y="0"/>
                </a:lnTo>
                <a:lnTo>
                  <a:pt x="0" y="10287000"/>
                </a:lnTo>
                <a:lnTo>
                  <a:pt x="10287000" y="10287000"/>
                </a:lnTo>
                <a:lnTo>
                  <a:pt x="10287000" y="0"/>
                </a:lnTo>
                <a:close/>
              </a:path>
            </a:pathLst>
          </a:custGeom>
          <a:blipFill>
            <a:blip r:embed="rId2">
              <a:alphaModFix amt="25000"/>
            </a:blip>
            <a:stretch>
              <a:fillRect l="0" t="0" r="0" b="0"/>
            </a:stretch>
          </a:blipFill>
        </p:spPr>
      </p:sp>
      <p:sp>
        <p:nvSpPr>
          <p:cNvPr name="Freeform 3" id="3"/>
          <p:cNvSpPr/>
          <p:nvPr/>
        </p:nvSpPr>
        <p:spPr>
          <a:xfrm flipH="false" flipV="false" rot="0">
            <a:off x="-1143000" y="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alphaModFix amt="25000"/>
            </a:blip>
            <a:stretch>
              <a:fillRect l="0" t="0" r="0" b="0"/>
            </a:stretch>
          </a:blipFill>
        </p:spPr>
      </p:sp>
      <p:sp>
        <p:nvSpPr>
          <p:cNvPr name="Freeform 4" id="4"/>
          <p:cNvSpPr/>
          <p:nvPr/>
        </p:nvSpPr>
        <p:spPr>
          <a:xfrm flipH="true" flipV="false" rot="0">
            <a:off x="1028700" y="1029604"/>
            <a:ext cx="805018" cy="805018"/>
          </a:xfrm>
          <a:custGeom>
            <a:avLst/>
            <a:gdLst/>
            <a:ahLst/>
            <a:cxnLst/>
            <a:rect r="r" b="b" t="t" l="l"/>
            <a:pathLst>
              <a:path h="805018" w="805018">
                <a:moveTo>
                  <a:pt x="805018" y="0"/>
                </a:moveTo>
                <a:lnTo>
                  <a:pt x="0" y="0"/>
                </a:lnTo>
                <a:lnTo>
                  <a:pt x="0" y="805018"/>
                </a:lnTo>
                <a:lnTo>
                  <a:pt x="805018" y="805018"/>
                </a:lnTo>
                <a:lnTo>
                  <a:pt x="805018"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true" rot="0">
            <a:off x="15280012" y="7300604"/>
            <a:ext cx="1979288" cy="1957696"/>
          </a:xfrm>
          <a:custGeom>
            <a:avLst/>
            <a:gdLst/>
            <a:ahLst/>
            <a:cxnLst/>
            <a:rect r="r" b="b" t="t" l="l"/>
            <a:pathLst>
              <a:path h="1957696" w="1979288">
                <a:moveTo>
                  <a:pt x="0" y="1957696"/>
                </a:moveTo>
                <a:lnTo>
                  <a:pt x="1979288" y="1957696"/>
                </a:lnTo>
                <a:lnTo>
                  <a:pt x="1979288" y="0"/>
                </a:lnTo>
                <a:lnTo>
                  <a:pt x="0" y="0"/>
                </a:lnTo>
                <a:lnTo>
                  <a:pt x="0" y="1957696"/>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1028700" y="2732254"/>
            <a:ext cx="13848166" cy="1960621"/>
          </a:xfrm>
          <a:prstGeom prst="rect">
            <a:avLst/>
          </a:prstGeom>
        </p:spPr>
        <p:txBody>
          <a:bodyPr anchor="t" rtlCol="false" tIns="0" lIns="0" bIns="0" rIns="0">
            <a:spAutoFit/>
          </a:bodyPr>
          <a:lstStyle/>
          <a:p>
            <a:pPr algn="l">
              <a:lnSpc>
                <a:spcPts val="7562"/>
              </a:lnSpc>
            </a:pPr>
            <a:r>
              <a:rPr lang="en-US" sz="7414" b="true">
                <a:solidFill>
                  <a:srgbClr val="004A55"/>
                </a:solidFill>
                <a:latin typeface="Montserrat Bold"/>
                <a:ea typeface="Montserrat Bold"/>
                <a:cs typeface="Montserrat Bold"/>
                <a:sym typeface="Montserrat Bold"/>
              </a:rPr>
              <a:t>Backend Integration: Firebase Authentication</a:t>
            </a:r>
          </a:p>
        </p:txBody>
      </p:sp>
      <p:sp>
        <p:nvSpPr>
          <p:cNvPr name="TextBox 7" id="7"/>
          <p:cNvSpPr txBox="true"/>
          <p:nvPr/>
        </p:nvSpPr>
        <p:spPr>
          <a:xfrm rot="0">
            <a:off x="1028700" y="5095875"/>
            <a:ext cx="7171682" cy="2267567"/>
          </a:xfrm>
          <a:prstGeom prst="rect">
            <a:avLst/>
          </a:prstGeom>
        </p:spPr>
        <p:txBody>
          <a:bodyPr anchor="t" rtlCol="false" tIns="0" lIns="0" bIns="0" rIns="0">
            <a:spAutoFit/>
          </a:bodyPr>
          <a:lstStyle/>
          <a:p>
            <a:pPr algn="l" marL="560340" indent="-280170" lvl="1">
              <a:lnSpc>
                <a:spcPts val="3633"/>
              </a:lnSpc>
              <a:buFont typeface="Arial"/>
              <a:buChar char="•"/>
            </a:pPr>
            <a:r>
              <a:rPr lang="en-US" b="true" sz="2595">
                <a:solidFill>
                  <a:srgbClr val="004A55"/>
                </a:solidFill>
                <a:latin typeface="Montserrat Bold"/>
                <a:ea typeface="Montserrat Bold"/>
                <a:cs typeface="Montserrat Bold"/>
                <a:sym typeface="Montserrat Bold"/>
              </a:rPr>
              <a:t>Service: </a:t>
            </a:r>
            <a:r>
              <a:rPr lang="en-US" sz="2595">
                <a:solidFill>
                  <a:srgbClr val="004A55"/>
                </a:solidFill>
                <a:latin typeface="Montserrat"/>
                <a:ea typeface="Montserrat"/>
                <a:cs typeface="Montserrat"/>
                <a:sym typeface="Montserrat"/>
              </a:rPr>
              <a:t>Firebase Authentication.</a:t>
            </a:r>
          </a:p>
          <a:p>
            <a:pPr algn="l" marL="560340" indent="-280170" lvl="1">
              <a:lnSpc>
                <a:spcPts val="3633"/>
              </a:lnSpc>
              <a:buFont typeface="Arial"/>
              <a:buChar char="•"/>
            </a:pPr>
            <a:r>
              <a:rPr lang="en-US" b="true" sz="2595">
                <a:solidFill>
                  <a:srgbClr val="004A55"/>
                </a:solidFill>
                <a:latin typeface="Montserrat Bold"/>
                <a:ea typeface="Montserrat Bold"/>
                <a:cs typeface="Montserrat Bold"/>
                <a:sym typeface="Montserrat Bold"/>
              </a:rPr>
              <a:t>Me</a:t>
            </a:r>
            <a:r>
              <a:rPr lang="en-US" b="true" sz="2595">
                <a:solidFill>
                  <a:srgbClr val="004A55"/>
                </a:solidFill>
                <a:latin typeface="Montserrat Bold"/>
                <a:ea typeface="Montserrat Bold"/>
                <a:cs typeface="Montserrat Bold"/>
                <a:sym typeface="Montserrat Bold"/>
              </a:rPr>
              <a:t>thod: </a:t>
            </a:r>
            <a:r>
              <a:rPr lang="en-US" sz="2595">
                <a:solidFill>
                  <a:srgbClr val="004A55"/>
                </a:solidFill>
                <a:latin typeface="Montserrat"/>
                <a:ea typeface="Montserrat"/>
                <a:cs typeface="Montserrat"/>
                <a:sym typeface="Montserrat"/>
              </a:rPr>
              <a:t>Email &amp; Password Login.</a:t>
            </a:r>
          </a:p>
          <a:p>
            <a:pPr algn="l" marL="560340" indent="-280170" lvl="1">
              <a:lnSpc>
                <a:spcPts val="3633"/>
              </a:lnSpc>
              <a:buFont typeface="Arial"/>
              <a:buChar char="•"/>
            </a:pPr>
            <a:r>
              <a:rPr lang="en-US" b="true" sz="2595">
                <a:solidFill>
                  <a:srgbClr val="004A55"/>
                </a:solidFill>
                <a:latin typeface="Montserrat Bold"/>
                <a:ea typeface="Montserrat Bold"/>
                <a:cs typeface="Montserrat Bold"/>
                <a:sym typeface="Montserrat Bold"/>
              </a:rPr>
              <a:t>Security: </a:t>
            </a:r>
            <a:r>
              <a:rPr lang="en-US" sz="2595">
                <a:solidFill>
                  <a:srgbClr val="004A55"/>
                </a:solidFill>
                <a:latin typeface="Montserrat"/>
                <a:ea typeface="Montserrat"/>
                <a:cs typeface="Montserrat"/>
                <a:sym typeface="Montserrat"/>
              </a:rPr>
              <a:t>Secure token management &amp; user session.</a:t>
            </a:r>
          </a:p>
          <a:p>
            <a:pPr algn="l">
              <a:lnSpc>
                <a:spcPts val="3633"/>
              </a:lnSpc>
            </a:pPr>
          </a:p>
        </p:txBody>
      </p:sp>
      <p:sp>
        <p:nvSpPr>
          <p:cNvPr name="Freeform 8" id="8"/>
          <p:cNvSpPr/>
          <p:nvPr/>
        </p:nvSpPr>
        <p:spPr>
          <a:xfrm flipH="false" flipV="false" rot="0">
            <a:off x="13585052" y="1070560"/>
            <a:ext cx="3674248" cy="8187740"/>
          </a:xfrm>
          <a:custGeom>
            <a:avLst/>
            <a:gdLst/>
            <a:ahLst/>
            <a:cxnLst/>
            <a:rect r="r" b="b" t="t" l="l"/>
            <a:pathLst>
              <a:path h="8187740" w="3674248">
                <a:moveTo>
                  <a:pt x="0" y="0"/>
                </a:moveTo>
                <a:lnTo>
                  <a:pt x="3674248" y="0"/>
                </a:lnTo>
                <a:lnTo>
                  <a:pt x="3674248" y="8187740"/>
                </a:lnTo>
                <a:lnTo>
                  <a:pt x="0" y="8187740"/>
                </a:lnTo>
                <a:lnTo>
                  <a:pt x="0" y="0"/>
                </a:lnTo>
                <a:close/>
              </a:path>
            </a:pathLst>
          </a:custGeom>
          <a:blipFill>
            <a:blip r:embed="rId7"/>
            <a:stretch>
              <a:fillRect l="0" t="0" r="0" b="0"/>
            </a:stretch>
          </a:blipFill>
        </p:spPr>
      </p:sp>
      <p:sp>
        <p:nvSpPr>
          <p:cNvPr name="Freeform 9" id="9"/>
          <p:cNvSpPr/>
          <p:nvPr/>
        </p:nvSpPr>
        <p:spPr>
          <a:xfrm flipH="false" flipV="false" rot="0">
            <a:off x="12761322" y="781837"/>
            <a:ext cx="5321707" cy="8765186"/>
          </a:xfrm>
          <a:custGeom>
            <a:avLst/>
            <a:gdLst/>
            <a:ahLst/>
            <a:cxnLst/>
            <a:rect r="r" b="b" t="t" l="l"/>
            <a:pathLst>
              <a:path h="8765186" w="5321707">
                <a:moveTo>
                  <a:pt x="0" y="0"/>
                </a:moveTo>
                <a:lnTo>
                  <a:pt x="5321707" y="0"/>
                </a:lnTo>
                <a:lnTo>
                  <a:pt x="5321707" y="8765186"/>
                </a:lnTo>
                <a:lnTo>
                  <a:pt x="0" y="8765186"/>
                </a:lnTo>
                <a:lnTo>
                  <a:pt x="0" y="0"/>
                </a:lnTo>
                <a:close/>
              </a:path>
            </a:pathLst>
          </a:custGeom>
          <a:blipFill>
            <a:blip r:embed="rId8"/>
            <a:stretch>
              <a:fillRect l="-956" t="0" r="-956"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6F6F6"/>
        </a:solidFill>
      </p:bgPr>
    </p:bg>
    <p:spTree>
      <p:nvGrpSpPr>
        <p:cNvPr id="1" name=""/>
        <p:cNvGrpSpPr/>
        <p:nvPr/>
      </p:nvGrpSpPr>
      <p:grpSpPr>
        <a:xfrm>
          <a:off x="0" y="0"/>
          <a:ext cx="0" cy="0"/>
          <a:chOff x="0" y="0"/>
          <a:chExt cx="0" cy="0"/>
        </a:xfrm>
      </p:grpSpPr>
      <p:sp>
        <p:nvSpPr>
          <p:cNvPr name="Freeform 2" id="2"/>
          <p:cNvSpPr/>
          <p:nvPr/>
        </p:nvSpPr>
        <p:spPr>
          <a:xfrm flipH="true" flipV="false" rot="0">
            <a:off x="9144000" y="0"/>
            <a:ext cx="10287000" cy="10287000"/>
          </a:xfrm>
          <a:custGeom>
            <a:avLst/>
            <a:gdLst/>
            <a:ahLst/>
            <a:cxnLst/>
            <a:rect r="r" b="b" t="t" l="l"/>
            <a:pathLst>
              <a:path h="10287000" w="10287000">
                <a:moveTo>
                  <a:pt x="10287000" y="0"/>
                </a:moveTo>
                <a:lnTo>
                  <a:pt x="0" y="0"/>
                </a:lnTo>
                <a:lnTo>
                  <a:pt x="0" y="10287000"/>
                </a:lnTo>
                <a:lnTo>
                  <a:pt x="10287000" y="10287000"/>
                </a:lnTo>
                <a:lnTo>
                  <a:pt x="10287000" y="0"/>
                </a:lnTo>
                <a:close/>
              </a:path>
            </a:pathLst>
          </a:custGeom>
          <a:blipFill>
            <a:blip r:embed="rId2">
              <a:alphaModFix amt="25000"/>
            </a:blip>
            <a:stretch>
              <a:fillRect l="0" t="0" r="0" b="0"/>
            </a:stretch>
          </a:blipFill>
        </p:spPr>
      </p:sp>
      <p:sp>
        <p:nvSpPr>
          <p:cNvPr name="Freeform 3" id="3"/>
          <p:cNvSpPr/>
          <p:nvPr/>
        </p:nvSpPr>
        <p:spPr>
          <a:xfrm flipH="false" flipV="false" rot="0">
            <a:off x="-1143000" y="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alphaModFix amt="25000"/>
            </a:blip>
            <a:stretch>
              <a:fillRect l="0" t="0" r="0" b="0"/>
            </a:stretch>
          </a:blipFill>
        </p:spPr>
      </p:sp>
      <p:sp>
        <p:nvSpPr>
          <p:cNvPr name="Freeform 4" id="4"/>
          <p:cNvSpPr/>
          <p:nvPr/>
        </p:nvSpPr>
        <p:spPr>
          <a:xfrm flipH="true" flipV="false" rot="0">
            <a:off x="1028700" y="1029604"/>
            <a:ext cx="805018" cy="805018"/>
          </a:xfrm>
          <a:custGeom>
            <a:avLst/>
            <a:gdLst/>
            <a:ahLst/>
            <a:cxnLst/>
            <a:rect r="r" b="b" t="t" l="l"/>
            <a:pathLst>
              <a:path h="805018" w="805018">
                <a:moveTo>
                  <a:pt x="805018" y="0"/>
                </a:moveTo>
                <a:lnTo>
                  <a:pt x="0" y="0"/>
                </a:lnTo>
                <a:lnTo>
                  <a:pt x="0" y="805018"/>
                </a:lnTo>
                <a:lnTo>
                  <a:pt x="805018" y="805018"/>
                </a:lnTo>
                <a:lnTo>
                  <a:pt x="805018"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true" rot="0">
            <a:off x="15280012" y="7300604"/>
            <a:ext cx="1979288" cy="1957696"/>
          </a:xfrm>
          <a:custGeom>
            <a:avLst/>
            <a:gdLst/>
            <a:ahLst/>
            <a:cxnLst/>
            <a:rect r="r" b="b" t="t" l="l"/>
            <a:pathLst>
              <a:path h="1957696" w="1979288">
                <a:moveTo>
                  <a:pt x="0" y="1957696"/>
                </a:moveTo>
                <a:lnTo>
                  <a:pt x="1979288" y="1957696"/>
                </a:lnTo>
                <a:lnTo>
                  <a:pt x="1979288" y="0"/>
                </a:lnTo>
                <a:lnTo>
                  <a:pt x="0" y="0"/>
                </a:lnTo>
                <a:lnTo>
                  <a:pt x="0" y="1957696"/>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1028700" y="2560809"/>
            <a:ext cx="13848166" cy="1003145"/>
          </a:xfrm>
          <a:prstGeom prst="rect">
            <a:avLst/>
          </a:prstGeom>
        </p:spPr>
        <p:txBody>
          <a:bodyPr anchor="t" rtlCol="false" tIns="0" lIns="0" bIns="0" rIns="0">
            <a:spAutoFit/>
          </a:bodyPr>
          <a:lstStyle/>
          <a:p>
            <a:pPr algn="l">
              <a:lnSpc>
                <a:spcPts val="7562"/>
              </a:lnSpc>
            </a:pPr>
            <a:r>
              <a:rPr lang="en-US" sz="7414" b="true">
                <a:solidFill>
                  <a:srgbClr val="004A55"/>
                </a:solidFill>
                <a:latin typeface="Montserrat Bold"/>
                <a:ea typeface="Montserrat Bold"/>
                <a:cs typeface="Montserrat Bold"/>
                <a:sym typeface="Montserrat Bold"/>
              </a:rPr>
              <a:t> Challenges &amp; Solutions</a:t>
            </a:r>
          </a:p>
        </p:txBody>
      </p:sp>
      <p:sp>
        <p:nvSpPr>
          <p:cNvPr name="TextBox 7" id="7"/>
          <p:cNvSpPr txBox="true"/>
          <p:nvPr/>
        </p:nvSpPr>
        <p:spPr>
          <a:xfrm rot="0">
            <a:off x="1028700" y="3899428"/>
            <a:ext cx="16230600" cy="5924951"/>
          </a:xfrm>
          <a:prstGeom prst="rect">
            <a:avLst/>
          </a:prstGeom>
        </p:spPr>
        <p:txBody>
          <a:bodyPr anchor="t" rtlCol="false" tIns="0" lIns="0" bIns="0" rIns="0">
            <a:spAutoFit/>
          </a:bodyPr>
          <a:lstStyle/>
          <a:p>
            <a:pPr algn="l">
              <a:lnSpc>
                <a:spcPts val="3633"/>
              </a:lnSpc>
            </a:pPr>
            <a:r>
              <a:rPr lang="en-US" sz="2595" b="true">
                <a:solidFill>
                  <a:srgbClr val="004A55"/>
                </a:solidFill>
                <a:latin typeface="Montserrat Bold"/>
                <a:ea typeface="Montserrat Bold"/>
                <a:cs typeface="Montserrat Bold"/>
                <a:sym typeface="Montserrat Bold"/>
              </a:rPr>
              <a:t>Challenge: Complex Dependency Injection during Migration</a:t>
            </a:r>
          </a:p>
          <a:p>
            <a:pPr algn="l" marL="560340" indent="-280170" lvl="1">
              <a:lnSpc>
                <a:spcPts val="3633"/>
              </a:lnSpc>
              <a:buFont typeface="Arial"/>
              <a:buChar char="•"/>
            </a:pPr>
            <a:r>
              <a:rPr lang="en-US" sz="2595">
                <a:solidFill>
                  <a:srgbClr val="004A55"/>
                </a:solidFill>
                <a:latin typeface="Montserrat"/>
                <a:ea typeface="Montserrat"/>
                <a:cs typeface="Montserrat"/>
                <a:sym typeface="Montserrat"/>
              </a:rPr>
              <a:t>Kesulitan saat migrasi fitur Todo List ke Firebase Firestore.</a:t>
            </a:r>
          </a:p>
          <a:p>
            <a:pPr algn="l" marL="560340" indent="-280170" lvl="1">
              <a:lnSpc>
                <a:spcPts val="3633"/>
              </a:lnSpc>
              <a:buFont typeface="Arial"/>
              <a:buChar char="•"/>
            </a:pPr>
            <a:r>
              <a:rPr lang="en-US" sz="2595">
                <a:solidFill>
                  <a:srgbClr val="004A55"/>
                </a:solidFill>
                <a:latin typeface="Montserrat"/>
                <a:ea typeface="Montserrat"/>
                <a:cs typeface="Montserrat"/>
                <a:sym typeface="Montserrat"/>
              </a:rPr>
              <a:t>Terjadi error pada GetX Bindings (Dependency Injection) yang tidak terdeteksi meskipun App Routes sudah diperbarui.</a:t>
            </a:r>
          </a:p>
          <a:p>
            <a:pPr algn="l" marL="560340" indent="-280170" lvl="1">
              <a:lnSpc>
                <a:spcPts val="3633"/>
              </a:lnSpc>
              <a:buFont typeface="Arial"/>
              <a:buChar char="•"/>
            </a:pPr>
            <a:r>
              <a:rPr lang="en-US" sz="2595">
                <a:solidFill>
                  <a:srgbClr val="004A55"/>
                </a:solidFill>
                <a:latin typeface="Montserrat"/>
                <a:ea typeface="Montserrat"/>
                <a:cs typeface="Montserrat"/>
                <a:sym typeface="Montserrat"/>
              </a:rPr>
              <a:t>Solusi instan (AI/Docs) tidak berhasil menyelesaikan masalah spesifik ini.</a:t>
            </a:r>
          </a:p>
          <a:p>
            <a:pPr algn="l">
              <a:lnSpc>
                <a:spcPts val="3633"/>
              </a:lnSpc>
            </a:pPr>
          </a:p>
          <a:p>
            <a:pPr algn="l">
              <a:lnSpc>
                <a:spcPts val="3633"/>
              </a:lnSpc>
            </a:pPr>
            <a:r>
              <a:rPr lang="en-US" sz="2595" b="true">
                <a:solidFill>
                  <a:srgbClr val="004A55"/>
                </a:solidFill>
                <a:latin typeface="Montserrat Bold"/>
                <a:ea typeface="Montserrat Bold"/>
                <a:cs typeface="Montserrat Bold"/>
                <a:sym typeface="Montserrat Bold"/>
              </a:rPr>
              <a:t>Solution: Deep Tracing &amp; Root Cause Analysis</a:t>
            </a:r>
          </a:p>
          <a:p>
            <a:pPr algn="l" marL="560340" indent="-280170" lvl="1">
              <a:lnSpc>
                <a:spcPts val="3633"/>
              </a:lnSpc>
              <a:buFont typeface="Arial"/>
              <a:buChar char="•"/>
            </a:pPr>
            <a:r>
              <a:rPr lang="en-US" sz="2595">
                <a:solidFill>
                  <a:srgbClr val="004A55"/>
                </a:solidFill>
                <a:latin typeface="Montserrat"/>
                <a:ea typeface="Montserrat"/>
                <a:cs typeface="Montserrat"/>
                <a:sym typeface="Montserrat"/>
              </a:rPr>
              <a:t>Melakukan penelusuran manual (manual tracing) pada alur inisialisasi aplikasi.</a:t>
            </a:r>
          </a:p>
          <a:p>
            <a:pPr algn="l" marL="560340" indent="-280170" lvl="1">
              <a:lnSpc>
                <a:spcPts val="3633"/>
              </a:lnSpc>
              <a:buFont typeface="Arial"/>
              <a:buChar char="•"/>
            </a:pPr>
            <a:r>
              <a:rPr lang="en-US" sz="2595">
                <a:solidFill>
                  <a:srgbClr val="004A55"/>
                </a:solidFill>
                <a:latin typeface="Montserrat"/>
                <a:ea typeface="Montserrat"/>
                <a:cs typeface="Montserrat"/>
                <a:sym typeface="Montserrat"/>
              </a:rPr>
              <a:t>Menemukan bahwa Bindings tidak hanya perlu diatur di app_routes, tetapi juga harus di-assign di main_navigation.</a:t>
            </a:r>
          </a:p>
          <a:p>
            <a:pPr algn="l" marL="560340" indent="-280170" lvl="1">
              <a:lnSpc>
                <a:spcPts val="3633"/>
              </a:lnSpc>
              <a:buFont typeface="Arial"/>
              <a:buChar char="•"/>
            </a:pPr>
            <a:r>
              <a:rPr lang="en-US" sz="2595">
                <a:solidFill>
                  <a:srgbClr val="004A55"/>
                </a:solidFill>
                <a:latin typeface="Montserrat"/>
                <a:ea typeface="Montserrat"/>
                <a:cs typeface="Montserrat"/>
                <a:sym typeface="Montserrat"/>
              </a:rPr>
              <a:t>Memperbaiki inisialisasi pada Bottom Navigation Bar sehingga controller dapat berjalan lancar.</a:t>
            </a:r>
          </a:p>
          <a:p>
            <a:pPr algn="l">
              <a:lnSpc>
                <a:spcPts val="3633"/>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6F6F6"/>
        </a:solidFill>
      </p:bgPr>
    </p:bg>
    <p:spTree>
      <p:nvGrpSpPr>
        <p:cNvPr id="1" name=""/>
        <p:cNvGrpSpPr/>
        <p:nvPr/>
      </p:nvGrpSpPr>
      <p:grpSpPr>
        <a:xfrm>
          <a:off x="0" y="0"/>
          <a:ext cx="0" cy="0"/>
          <a:chOff x="0" y="0"/>
          <a:chExt cx="0" cy="0"/>
        </a:xfrm>
      </p:grpSpPr>
      <p:sp>
        <p:nvSpPr>
          <p:cNvPr name="Freeform 2" id="2"/>
          <p:cNvSpPr/>
          <p:nvPr/>
        </p:nvSpPr>
        <p:spPr>
          <a:xfrm flipH="true" flipV="false" rot="0">
            <a:off x="9144000" y="0"/>
            <a:ext cx="10287000" cy="10287000"/>
          </a:xfrm>
          <a:custGeom>
            <a:avLst/>
            <a:gdLst/>
            <a:ahLst/>
            <a:cxnLst/>
            <a:rect r="r" b="b" t="t" l="l"/>
            <a:pathLst>
              <a:path h="10287000" w="10287000">
                <a:moveTo>
                  <a:pt x="10287000" y="0"/>
                </a:moveTo>
                <a:lnTo>
                  <a:pt x="0" y="0"/>
                </a:lnTo>
                <a:lnTo>
                  <a:pt x="0" y="10287000"/>
                </a:lnTo>
                <a:lnTo>
                  <a:pt x="10287000" y="10287000"/>
                </a:lnTo>
                <a:lnTo>
                  <a:pt x="10287000" y="0"/>
                </a:lnTo>
                <a:close/>
              </a:path>
            </a:pathLst>
          </a:custGeom>
          <a:blipFill>
            <a:blip r:embed="rId2">
              <a:alphaModFix amt="25000"/>
            </a:blip>
            <a:stretch>
              <a:fillRect l="0" t="0" r="0" b="0"/>
            </a:stretch>
          </a:blipFill>
        </p:spPr>
      </p:sp>
      <p:sp>
        <p:nvSpPr>
          <p:cNvPr name="Freeform 3" id="3"/>
          <p:cNvSpPr/>
          <p:nvPr/>
        </p:nvSpPr>
        <p:spPr>
          <a:xfrm flipH="false" flipV="false" rot="0">
            <a:off x="8994492" y="877052"/>
            <a:ext cx="11617762" cy="10287000"/>
          </a:xfrm>
          <a:custGeom>
            <a:avLst/>
            <a:gdLst/>
            <a:ahLst/>
            <a:cxnLst/>
            <a:rect r="r" b="b" t="t" l="l"/>
            <a:pathLst>
              <a:path h="10287000" w="11617762">
                <a:moveTo>
                  <a:pt x="0" y="0"/>
                </a:moveTo>
                <a:lnTo>
                  <a:pt x="11617762" y="0"/>
                </a:lnTo>
                <a:lnTo>
                  <a:pt x="11617762" y="10287000"/>
                </a:lnTo>
                <a:lnTo>
                  <a:pt x="0" y="102870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143000" y="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alphaModFix amt="25000"/>
            </a:blip>
            <a:stretch>
              <a:fillRect l="0" t="0" r="0" b="0"/>
            </a:stretch>
          </a:blipFill>
        </p:spPr>
      </p:sp>
      <p:sp>
        <p:nvSpPr>
          <p:cNvPr name="Freeform 5" id="5"/>
          <p:cNvSpPr/>
          <p:nvPr/>
        </p:nvSpPr>
        <p:spPr>
          <a:xfrm flipH="true" flipV="false" rot="0">
            <a:off x="1028700" y="1029604"/>
            <a:ext cx="805018" cy="805018"/>
          </a:xfrm>
          <a:custGeom>
            <a:avLst/>
            <a:gdLst/>
            <a:ahLst/>
            <a:cxnLst/>
            <a:rect r="r" b="b" t="t" l="l"/>
            <a:pathLst>
              <a:path h="805018" w="805018">
                <a:moveTo>
                  <a:pt x="805018" y="0"/>
                </a:moveTo>
                <a:lnTo>
                  <a:pt x="0" y="0"/>
                </a:lnTo>
                <a:lnTo>
                  <a:pt x="0" y="805018"/>
                </a:lnTo>
                <a:lnTo>
                  <a:pt x="805018" y="805018"/>
                </a:lnTo>
                <a:lnTo>
                  <a:pt x="805018"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true" rot="0">
            <a:off x="15736810" y="7786111"/>
            <a:ext cx="1979288" cy="1957696"/>
          </a:xfrm>
          <a:custGeom>
            <a:avLst/>
            <a:gdLst/>
            <a:ahLst/>
            <a:cxnLst/>
            <a:rect r="r" b="b" t="t" l="l"/>
            <a:pathLst>
              <a:path h="1957696" w="1979288">
                <a:moveTo>
                  <a:pt x="0" y="1957695"/>
                </a:moveTo>
                <a:lnTo>
                  <a:pt x="1979288" y="1957695"/>
                </a:lnTo>
                <a:lnTo>
                  <a:pt x="1979288" y="0"/>
                </a:lnTo>
                <a:lnTo>
                  <a:pt x="0" y="0"/>
                </a:lnTo>
                <a:lnTo>
                  <a:pt x="0" y="1957695"/>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7" id="7"/>
          <p:cNvSpPr txBox="true"/>
          <p:nvPr/>
        </p:nvSpPr>
        <p:spPr>
          <a:xfrm rot="0">
            <a:off x="1028700" y="2732254"/>
            <a:ext cx="7803867" cy="1960621"/>
          </a:xfrm>
          <a:prstGeom prst="rect">
            <a:avLst/>
          </a:prstGeom>
        </p:spPr>
        <p:txBody>
          <a:bodyPr anchor="t" rtlCol="false" tIns="0" lIns="0" bIns="0" rIns="0">
            <a:spAutoFit/>
          </a:bodyPr>
          <a:lstStyle/>
          <a:p>
            <a:pPr algn="l">
              <a:lnSpc>
                <a:spcPts val="7562"/>
              </a:lnSpc>
            </a:pPr>
            <a:r>
              <a:rPr lang="en-US" sz="7414" b="true">
                <a:solidFill>
                  <a:srgbClr val="004A55"/>
                </a:solidFill>
                <a:latin typeface="Montserrat Bold"/>
                <a:ea typeface="Montserrat Bold"/>
                <a:cs typeface="Montserrat Bold"/>
                <a:sym typeface="Montserrat Bold"/>
              </a:rPr>
              <a:t>Learning Outcomes</a:t>
            </a:r>
          </a:p>
        </p:txBody>
      </p:sp>
      <p:sp>
        <p:nvSpPr>
          <p:cNvPr name="TextBox 8" id="8"/>
          <p:cNvSpPr txBox="true"/>
          <p:nvPr/>
        </p:nvSpPr>
        <p:spPr>
          <a:xfrm rot="0">
            <a:off x="1028700" y="5095875"/>
            <a:ext cx="10284551" cy="3639086"/>
          </a:xfrm>
          <a:prstGeom prst="rect">
            <a:avLst/>
          </a:prstGeom>
        </p:spPr>
        <p:txBody>
          <a:bodyPr anchor="t" rtlCol="false" tIns="0" lIns="0" bIns="0" rIns="0">
            <a:spAutoFit/>
          </a:bodyPr>
          <a:lstStyle/>
          <a:p>
            <a:pPr algn="l">
              <a:lnSpc>
                <a:spcPts val="3633"/>
              </a:lnSpc>
            </a:pPr>
            <a:r>
              <a:rPr lang="en-US" sz="2595" b="true">
                <a:solidFill>
                  <a:srgbClr val="004A55"/>
                </a:solidFill>
                <a:latin typeface="Montserrat Bold"/>
                <a:ea typeface="Montserrat Bold"/>
                <a:cs typeface="Montserrat Bold"/>
                <a:sym typeface="Montserrat Bold"/>
              </a:rPr>
              <a:t>1. Strong Fundamental &amp; Best Practices</a:t>
            </a:r>
          </a:p>
          <a:p>
            <a:pPr algn="l" marL="560340" indent="-280170" lvl="1">
              <a:lnSpc>
                <a:spcPts val="3633"/>
              </a:lnSpc>
              <a:buFont typeface="Arial"/>
              <a:buChar char="•"/>
            </a:pPr>
            <a:r>
              <a:rPr lang="en-US" sz="2595">
                <a:solidFill>
                  <a:srgbClr val="004A55"/>
                </a:solidFill>
                <a:latin typeface="Montserrat"/>
                <a:ea typeface="Montserrat"/>
                <a:cs typeface="Montserrat"/>
                <a:sym typeface="Montserrat"/>
              </a:rPr>
              <a:t>Memahami konsep dasar arsitektur (Feature-based) dan State Management (GetX) secara mendalam, bukan sekadar coding fitur.</a:t>
            </a:r>
          </a:p>
          <a:p>
            <a:pPr algn="l" marL="560340" indent="-280170" lvl="1">
              <a:lnSpc>
                <a:spcPts val="3633"/>
              </a:lnSpc>
              <a:buFont typeface="Arial"/>
              <a:buChar char="•"/>
            </a:pPr>
            <a:r>
              <a:rPr lang="en-US" sz="2595">
                <a:solidFill>
                  <a:srgbClr val="004A55"/>
                </a:solidFill>
                <a:latin typeface="Montserrat"/>
                <a:ea typeface="Montserrat"/>
                <a:cs typeface="Montserrat"/>
                <a:sym typeface="Montserrat"/>
              </a:rPr>
              <a:t>Penerapan Clean Code berdasarkan teori dan saran langsung dari Mentor.</a:t>
            </a:r>
          </a:p>
          <a:p>
            <a:pPr algn="l">
              <a:lnSpc>
                <a:spcPts val="3633"/>
              </a:lnSpc>
            </a:pPr>
          </a:p>
          <a:p>
            <a:pPr algn="l">
              <a:lnSpc>
                <a:spcPts val="3633"/>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6F6F6"/>
        </a:solidFill>
      </p:bgPr>
    </p:bg>
    <p:spTree>
      <p:nvGrpSpPr>
        <p:cNvPr id="1" name=""/>
        <p:cNvGrpSpPr/>
        <p:nvPr/>
      </p:nvGrpSpPr>
      <p:grpSpPr>
        <a:xfrm>
          <a:off x="0" y="0"/>
          <a:ext cx="0" cy="0"/>
          <a:chOff x="0" y="0"/>
          <a:chExt cx="0" cy="0"/>
        </a:xfrm>
      </p:grpSpPr>
      <p:sp>
        <p:nvSpPr>
          <p:cNvPr name="Freeform 2" id="2"/>
          <p:cNvSpPr/>
          <p:nvPr/>
        </p:nvSpPr>
        <p:spPr>
          <a:xfrm flipH="true" flipV="false" rot="0">
            <a:off x="9144000" y="0"/>
            <a:ext cx="10287000" cy="10287000"/>
          </a:xfrm>
          <a:custGeom>
            <a:avLst/>
            <a:gdLst/>
            <a:ahLst/>
            <a:cxnLst/>
            <a:rect r="r" b="b" t="t" l="l"/>
            <a:pathLst>
              <a:path h="10287000" w="10287000">
                <a:moveTo>
                  <a:pt x="10287000" y="0"/>
                </a:moveTo>
                <a:lnTo>
                  <a:pt x="0" y="0"/>
                </a:lnTo>
                <a:lnTo>
                  <a:pt x="0" y="10287000"/>
                </a:lnTo>
                <a:lnTo>
                  <a:pt x="10287000" y="10287000"/>
                </a:lnTo>
                <a:lnTo>
                  <a:pt x="10287000" y="0"/>
                </a:lnTo>
                <a:close/>
              </a:path>
            </a:pathLst>
          </a:custGeom>
          <a:blipFill>
            <a:blip r:embed="rId2">
              <a:alphaModFix amt="25000"/>
            </a:blip>
            <a:stretch>
              <a:fillRect l="0" t="0" r="0" b="0"/>
            </a:stretch>
          </a:blipFill>
        </p:spPr>
      </p:sp>
      <p:sp>
        <p:nvSpPr>
          <p:cNvPr name="Freeform 3" id="3"/>
          <p:cNvSpPr/>
          <p:nvPr/>
        </p:nvSpPr>
        <p:spPr>
          <a:xfrm flipH="false" flipV="false" rot="0">
            <a:off x="8994492" y="877052"/>
            <a:ext cx="11617762" cy="10287000"/>
          </a:xfrm>
          <a:custGeom>
            <a:avLst/>
            <a:gdLst/>
            <a:ahLst/>
            <a:cxnLst/>
            <a:rect r="r" b="b" t="t" l="l"/>
            <a:pathLst>
              <a:path h="10287000" w="11617762">
                <a:moveTo>
                  <a:pt x="0" y="0"/>
                </a:moveTo>
                <a:lnTo>
                  <a:pt x="11617762" y="0"/>
                </a:lnTo>
                <a:lnTo>
                  <a:pt x="11617762" y="10287000"/>
                </a:lnTo>
                <a:lnTo>
                  <a:pt x="0" y="102870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143000" y="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alphaModFix amt="25000"/>
            </a:blip>
            <a:stretch>
              <a:fillRect l="0" t="0" r="0" b="0"/>
            </a:stretch>
          </a:blipFill>
        </p:spPr>
      </p:sp>
      <p:sp>
        <p:nvSpPr>
          <p:cNvPr name="Freeform 5" id="5"/>
          <p:cNvSpPr/>
          <p:nvPr/>
        </p:nvSpPr>
        <p:spPr>
          <a:xfrm flipH="true" flipV="false" rot="0">
            <a:off x="1028700" y="1029604"/>
            <a:ext cx="805018" cy="805018"/>
          </a:xfrm>
          <a:custGeom>
            <a:avLst/>
            <a:gdLst/>
            <a:ahLst/>
            <a:cxnLst/>
            <a:rect r="r" b="b" t="t" l="l"/>
            <a:pathLst>
              <a:path h="805018" w="805018">
                <a:moveTo>
                  <a:pt x="805018" y="0"/>
                </a:moveTo>
                <a:lnTo>
                  <a:pt x="0" y="0"/>
                </a:lnTo>
                <a:lnTo>
                  <a:pt x="0" y="805018"/>
                </a:lnTo>
                <a:lnTo>
                  <a:pt x="805018" y="805018"/>
                </a:lnTo>
                <a:lnTo>
                  <a:pt x="805018"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true" rot="0">
            <a:off x="15736810" y="7786111"/>
            <a:ext cx="1979288" cy="1957696"/>
          </a:xfrm>
          <a:custGeom>
            <a:avLst/>
            <a:gdLst/>
            <a:ahLst/>
            <a:cxnLst/>
            <a:rect r="r" b="b" t="t" l="l"/>
            <a:pathLst>
              <a:path h="1957696" w="1979288">
                <a:moveTo>
                  <a:pt x="0" y="1957695"/>
                </a:moveTo>
                <a:lnTo>
                  <a:pt x="1979288" y="1957695"/>
                </a:lnTo>
                <a:lnTo>
                  <a:pt x="1979288" y="0"/>
                </a:lnTo>
                <a:lnTo>
                  <a:pt x="0" y="0"/>
                </a:lnTo>
                <a:lnTo>
                  <a:pt x="0" y="1957695"/>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7" id="7"/>
          <p:cNvSpPr txBox="true"/>
          <p:nvPr/>
        </p:nvSpPr>
        <p:spPr>
          <a:xfrm rot="0">
            <a:off x="1028700" y="2732254"/>
            <a:ext cx="7803867" cy="1960621"/>
          </a:xfrm>
          <a:prstGeom prst="rect">
            <a:avLst/>
          </a:prstGeom>
        </p:spPr>
        <p:txBody>
          <a:bodyPr anchor="t" rtlCol="false" tIns="0" lIns="0" bIns="0" rIns="0">
            <a:spAutoFit/>
          </a:bodyPr>
          <a:lstStyle/>
          <a:p>
            <a:pPr algn="l">
              <a:lnSpc>
                <a:spcPts val="7562"/>
              </a:lnSpc>
            </a:pPr>
            <a:r>
              <a:rPr lang="en-US" sz="7414" b="true">
                <a:solidFill>
                  <a:srgbClr val="004A55"/>
                </a:solidFill>
                <a:latin typeface="Montserrat Bold"/>
                <a:ea typeface="Montserrat Bold"/>
                <a:cs typeface="Montserrat Bold"/>
                <a:sym typeface="Montserrat Bold"/>
              </a:rPr>
              <a:t>Learning Outcomes</a:t>
            </a:r>
          </a:p>
        </p:txBody>
      </p:sp>
      <p:sp>
        <p:nvSpPr>
          <p:cNvPr name="TextBox 8" id="8"/>
          <p:cNvSpPr txBox="true"/>
          <p:nvPr/>
        </p:nvSpPr>
        <p:spPr>
          <a:xfrm rot="0">
            <a:off x="1028700" y="5095875"/>
            <a:ext cx="10284551" cy="2724740"/>
          </a:xfrm>
          <a:prstGeom prst="rect">
            <a:avLst/>
          </a:prstGeom>
        </p:spPr>
        <p:txBody>
          <a:bodyPr anchor="t" rtlCol="false" tIns="0" lIns="0" bIns="0" rIns="0">
            <a:spAutoFit/>
          </a:bodyPr>
          <a:lstStyle/>
          <a:p>
            <a:pPr algn="l">
              <a:lnSpc>
                <a:spcPts val="3633"/>
              </a:lnSpc>
            </a:pPr>
            <a:r>
              <a:rPr lang="en-US" sz="2595" b="true">
                <a:solidFill>
                  <a:srgbClr val="004A55"/>
                </a:solidFill>
                <a:latin typeface="Montserrat Bold"/>
                <a:ea typeface="Montserrat Bold"/>
                <a:cs typeface="Montserrat Bold"/>
                <a:sym typeface="Montserrat Bold"/>
              </a:rPr>
              <a:t>2. Professional Mentors</a:t>
            </a:r>
            <a:r>
              <a:rPr lang="en-US" sz="2595" b="true">
                <a:solidFill>
                  <a:srgbClr val="004A55"/>
                </a:solidFill>
                <a:latin typeface="Montserrat Bold"/>
                <a:ea typeface="Montserrat Bold"/>
                <a:cs typeface="Montserrat Bold"/>
                <a:sym typeface="Montserrat Bold"/>
              </a:rPr>
              <a:t>hip &amp; Workflow</a:t>
            </a:r>
          </a:p>
          <a:p>
            <a:pPr algn="l" marL="560340" indent="-280170" lvl="1">
              <a:lnSpc>
                <a:spcPts val="3633"/>
              </a:lnSpc>
              <a:buFont typeface="Arial"/>
              <a:buChar char="•"/>
            </a:pPr>
            <a:r>
              <a:rPr lang="en-US" sz="2595">
                <a:solidFill>
                  <a:srgbClr val="004A55"/>
                </a:solidFill>
                <a:latin typeface="Montserrat"/>
                <a:ea typeface="Montserrat"/>
                <a:cs typeface="Montserrat"/>
                <a:sym typeface="Montserrat"/>
              </a:rPr>
              <a:t>Belajar dari mentor yang suportif dalam memberikan tips teknis dan solusi industri.</a:t>
            </a:r>
          </a:p>
          <a:p>
            <a:pPr algn="l" marL="560340" indent="-280170" lvl="1">
              <a:lnSpc>
                <a:spcPts val="3633"/>
              </a:lnSpc>
              <a:buFont typeface="Arial"/>
              <a:buChar char="•"/>
            </a:pPr>
            <a:r>
              <a:rPr lang="en-US" sz="2595">
                <a:solidFill>
                  <a:srgbClr val="004A55"/>
                </a:solidFill>
                <a:latin typeface="Montserrat"/>
                <a:ea typeface="Montserrat"/>
                <a:cs typeface="Montserrat"/>
                <a:sym typeface="Montserrat"/>
              </a:rPr>
              <a:t>Beradaptasi dengan manajemen proyek yang responsif dan komunikatif.</a:t>
            </a:r>
          </a:p>
          <a:p>
            <a:pPr algn="l">
              <a:lnSpc>
                <a:spcPts val="3633"/>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6F6F6"/>
        </a:solidFill>
      </p:bgPr>
    </p:bg>
    <p:spTree>
      <p:nvGrpSpPr>
        <p:cNvPr id="1" name=""/>
        <p:cNvGrpSpPr/>
        <p:nvPr/>
      </p:nvGrpSpPr>
      <p:grpSpPr>
        <a:xfrm>
          <a:off x="0" y="0"/>
          <a:ext cx="0" cy="0"/>
          <a:chOff x="0" y="0"/>
          <a:chExt cx="0" cy="0"/>
        </a:xfrm>
      </p:grpSpPr>
      <p:sp>
        <p:nvSpPr>
          <p:cNvPr name="Freeform 2" id="2"/>
          <p:cNvSpPr/>
          <p:nvPr/>
        </p:nvSpPr>
        <p:spPr>
          <a:xfrm flipH="true" flipV="false" rot="0">
            <a:off x="9144000" y="0"/>
            <a:ext cx="10287000" cy="10287000"/>
          </a:xfrm>
          <a:custGeom>
            <a:avLst/>
            <a:gdLst/>
            <a:ahLst/>
            <a:cxnLst/>
            <a:rect r="r" b="b" t="t" l="l"/>
            <a:pathLst>
              <a:path h="10287000" w="10287000">
                <a:moveTo>
                  <a:pt x="10287000" y="0"/>
                </a:moveTo>
                <a:lnTo>
                  <a:pt x="0" y="0"/>
                </a:lnTo>
                <a:lnTo>
                  <a:pt x="0" y="10287000"/>
                </a:lnTo>
                <a:lnTo>
                  <a:pt x="10287000" y="10287000"/>
                </a:lnTo>
                <a:lnTo>
                  <a:pt x="10287000" y="0"/>
                </a:lnTo>
                <a:close/>
              </a:path>
            </a:pathLst>
          </a:custGeom>
          <a:blipFill>
            <a:blip r:embed="rId2">
              <a:alphaModFix amt="25000"/>
            </a:blip>
            <a:stretch>
              <a:fillRect l="0" t="0" r="0" b="0"/>
            </a:stretch>
          </a:blipFill>
        </p:spPr>
      </p:sp>
      <p:sp>
        <p:nvSpPr>
          <p:cNvPr name="Freeform 3" id="3"/>
          <p:cNvSpPr/>
          <p:nvPr/>
        </p:nvSpPr>
        <p:spPr>
          <a:xfrm flipH="false" flipV="false" rot="0">
            <a:off x="8994492" y="877052"/>
            <a:ext cx="11617762" cy="10287000"/>
          </a:xfrm>
          <a:custGeom>
            <a:avLst/>
            <a:gdLst/>
            <a:ahLst/>
            <a:cxnLst/>
            <a:rect r="r" b="b" t="t" l="l"/>
            <a:pathLst>
              <a:path h="10287000" w="11617762">
                <a:moveTo>
                  <a:pt x="0" y="0"/>
                </a:moveTo>
                <a:lnTo>
                  <a:pt x="11617762" y="0"/>
                </a:lnTo>
                <a:lnTo>
                  <a:pt x="11617762" y="10287000"/>
                </a:lnTo>
                <a:lnTo>
                  <a:pt x="0" y="102870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143000" y="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alphaModFix amt="25000"/>
            </a:blip>
            <a:stretch>
              <a:fillRect l="0" t="0" r="0" b="0"/>
            </a:stretch>
          </a:blipFill>
        </p:spPr>
      </p:sp>
      <p:sp>
        <p:nvSpPr>
          <p:cNvPr name="Freeform 5" id="5"/>
          <p:cNvSpPr/>
          <p:nvPr/>
        </p:nvSpPr>
        <p:spPr>
          <a:xfrm flipH="true" flipV="false" rot="0">
            <a:off x="1028700" y="1029604"/>
            <a:ext cx="805018" cy="805018"/>
          </a:xfrm>
          <a:custGeom>
            <a:avLst/>
            <a:gdLst/>
            <a:ahLst/>
            <a:cxnLst/>
            <a:rect r="r" b="b" t="t" l="l"/>
            <a:pathLst>
              <a:path h="805018" w="805018">
                <a:moveTo>
                  <a:pt x="805018" y="0"/>
                </a:moveTo>
                <a:lnTo>
                  <a:pt x="0" y="0"/>
                </a:lnTo>
                <a:lnTo>
                  <a:pt x="0" y="805018"/>
                </a:lnTo>
                <a:lnTo>
                  <a:pt x="805018" y="805018"/>
                </a:lnTo>
                <a:lnTo>
                  <a:pt x="805018"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true" rot="0">
            <a:off x="15736810" y="7786111"/>
            <a:ext cx="1979288" cy="1957696"/>
          </a:xfrm>
          <a:custGeom>
            <a:avLst/>
            <a:gdLst/>
            <a:ahLst/>
            <a:cxnLst/>
            <a:rect r="r" b="b" t="t" l="l"/>
            <a:pathLst>
              <a:path h="1957696" w="1979288">
                <a:moveTo>
                  <a:pt x="0" y="1957695"/>
                </a:moveTo>
                <a:lnTo>
                  <a:pt x="1979288" y="1957695"/>
                </a:lnTo>
                <a:lnTo>
                  <a:pt x="1979288" y="0"/>
                </a:lnTo>
                <a:lnTo>
                  <a:pt x="0" y="0"/>
                </a:lnTo>
                <a:lnTo>
                  <a:pt x="0" y="1957695"/>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7" id="7"/>
          <p:cNvSpPr txBox="true"/>
          <p:nvPr/>
        </p:nvSpPr>
        <p:spPr>
          <a:xfrm rot="0">
            <a:off x="1028700" y="2732254"/>
            <a:ext cx="7803867" cy="1960621"/>
          </a:xfrm>
          <a:prstGeom prst="rect">
            <a:avLst/>
          </a:prstGeom>
        </p:spPr>
        <p:txBody>
          <a:bodyPr anchor="t" rtlCol="false" tIns="0" lIns="0" bIns="0" rIns="0">
            <a:spAutoFit/>
          </a:bodyPr>
          <a:lstStyle/>
          <a:p>
            <a:pPr algn="l">
              <a:lnSpc>
                <a:spcPts val="7562"/>
              </a:lnSpc>
            </a:pPr>
            <a:r>
              <a:rPr lang="en-US" sz="7414" b="true">
                <a:solidFill>
                  <a:srgbClr val="004A55"/>
                </a:solidFill>
                <a:latin typeface="Montserrat Bold"/>
                <a:ea typeface="Montserrat Bold"/>
                <a:cs typeface="Montserrat Bold"/>
                <a:sym typeface="Montserrat Bold"/>
              </a:rPr>
              <a:t>Learning Outcomes</a:t>
            </a:r>
          </a:p>
        </p:txBody>
      </p:sp>
      <p:sp>
        <p:nvSpPr>
          <p:cNvPr name="TextBox 8" id="8"/>
          <p:cNvSpPr txBox="true"/>
          <p:nvPr/>
        </p:nvSpPr>
        <p:spPr>
          <a:xfrm rot="0">
            <a:off x="1028700" y="5095875"/>
            <a:ext cx="10284551" cy="2724740"/>
          </a:xfrm>
          <a:prstGeom prst="rect">
            <a:avLst/>
          </a:prstGeom>
        </p:spPr>
        <p:txBody>
          <a:bodyPr anchor="t" rtlCol="false" tIns="0" lIns="0" bIns="0" rIns="0">
            <a:spAutoFit/>
          </a:bodyPr>
          <a:lstStyle/>
          <a:p>
            <a:pPr algn="l">
              <a:lnSpc>
                <a:spcPts val="3633"/>
              </a:lnSpc>
            </a:pPr>
            <a:r>
              <a:rPr lang="en-US" sz="2595" b="true">
                <a:solidFill>
                  <a:srgbClr val="004A55"/>
                </a:solidFill>
                <a:latin typeface="Montserrat Bold"/>
                <a:ea typeface="Montserrat Bold"/>
                <a:cs typeface="Montserrat Bold"/>
                <a:sym typeface="Montserrat Bold"/>
              </a:rPr>
              <a:t>3. Career Readiness (Soft Skills)</a:t>
            </a:r>
          </a:p>
          <a:p>
            <a:pPr algn="l" marL="560340" indent="-280170" lvl="1">
              <a:lnSpc>
                <a:spcPts val="3633"/>
              </a:lnSpc>
              <a:buFont typeface="Arial"/>
              <a:buChar char="•"/>
            </a:pPr>
            <a:r>
              <a:rPr lang="en-US" sz="2595">
                <a:solidFill>
                  <a:srgbClr val="004A55"/>
                </a:solidFill>
                <a:latin typeface="Montserrat"/>
                <a:ea typeface="Montserrat"/>
                <a:cs typeface="Montserrat"/>
                <a:sym typeface="Montserrat"/>
              </a:rPr>
              <a:t>Persiapan memasuk</a:t>
            </a:r>
            <a:r>
              <a:rPr lang="en-US" sz="2595">
                <a:solidFill>
                  <a:srgbClr val="004A55"/>
                </a:solidFill>
                <a:latin typeface="Montserrat"/>
                <a:ea typeface="Montserrat"/>
                <a:cs typeface="Montserrat"/>
                <a:sym typeface="Montserrat"/>
              </a:rPr>
              <a:t>i dunia kerja melalui bimbingan pembuatan CV profesional.</a:t>
            </a:r>
          </a:p>
          <a:p>
            <a:pPr algn="l" marL="560340" indent="-280170" lvl="1">
              <a:lnSpc>
                <a:spcPts val="3633"/>
              </a:lnSpc>
              <a:buFont typeface="Arial"/>
              <a:buChar char="•"/>
            </a:pPr>
            <a:r>
              <a:rPr lang="en-US" sz="2595">
                <a:solidFill>
                  <a:srgbClr val="004A55"/>
                </a:solidFill>
                <a:latin typeface="Montserrat"/>
                <a:ea typeface="Montserrat"/>
                <a:cs typeface="Montserrat"/>
                <a:sym typeface="Montserrat"/>
              </a:rPr>
              <a:t>Simulasi interview dengan HRD untuk melatih kepercayaan diri dan komunikasi.</a:t>
            </a:r>
          </a:p>
          <a:p>
            <a:pPr algn="l">
              <a:lnSpc>
                <a:spcPts val="3633"/>
              </a:lnSpc>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6F6F6"/>
        </a:solidFill>
      </p:bgPr>
    </p:bg>
    <p:spTree>
      <p:nvGrpSpPr>
        <p:cNvPr id="1" name=""/>
        <p:cNvGrpSpPr/>
        <p:nvPr/>
      </p:nvGrpSpPr>
      <p:grpSpPr>
        <a:xfrm>
          <a:off x="0" y="0"/>
          <a:ext cx="0" cy="0"/>
          <a:chOff x="0" y="0"/>
          <a:chExt cx="0" cy="0"/>
        </a:xfrm>
      </p:grpSpPr>
      <p:sp>
        <p:nvSpPr>
          <p:cNvPr name="Freeform 2" id="2"/>
          <p:cNvSpPr/>
          <p:nvPr/>
        </p:nvSpPr>
        <p:spPr>
          <a:xfrm flipH="true" flipV="false" rot="0">
            <a:off x="9144000" y="0"/>
            <a:ext cx="10287000" cy="10287000"/>
          </a:xfrm>
          <a:custGeom>
            <a:avLst/>
            <a:gdLst/>
            <a:ahLst/>
            <a:cxnLst/>
            <a:rect r="r" b="b" t="t" l="l"/>
            <a:pathLst>
              <a:path h="10287000" w="10287000">
                <a:moveTo>
                  <a:pt x="10287000" y="0"/>
                </a:moveTo>
                <a:lnTo>
                  <a:pt x="0" y="0"/>
                </a:lnTo>
                <a:lnTo>
                  <a:pt x="0" y="10287000"/>
                </a:lnTo>
                <a:lnTo>
                  <a:pt x="10287000" y="10287000"/>
                </a:lnTo>
                <a:lnTo>
                  <a:pt x="10287000" y="0"/>
                </a:lnTo>
                <a:close/>
              </a:path>
            </a:pathLst>
          </a:custGeom>
          <a:blipFill>
            <a:blip r:embed="rId2">
              <a:alphaModFix amt="25000"/>
            </a:blip>
            <a:stretch>
              <a:fillRect l="0" t="0" r="0" b="0"/>
            </a:stretch>
          </a:blipFill>
        </p:spPr>
      </p:sp>
      <p:sp>
        <p:nvSpPr>
          <p:cNvPr name="Freeform 3" id="3"/>
          <p:cNvSpPr/>
          <p:nvPr/>
        </p:nvSpPr>
        <p:spPr>
          <a:xfrm flipH="false" flipV="false" rot="0">
            <a:off x="-1143000" y="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alphaModFix amt="25000"/>
            </a:blip>
            <a:stretch>
              <a:fillRect l="0" t="0" r="0" b="0"/>
            </a:stretch>
          </a:blipFill>
        </p:spPr>
      </p:sp>
      <p:sp>
        <p:nvSpPr>
          <p:cNvPr name="Freeform 4" id="4"/>
          <p:cNvSpPr/>
          <p:nvPr/>
        </p:nvSpPr>
        <p:spPr>
          <a:xfrm flipH="true" flipV="false" rot="0">
            <a:off x="1028700" y="1029604"/>
            <a:ext cx="805018" cy="805018"/>
          </a:xfrm>
          <a:custGeom>
            <a:avLst/>
            <a:gdLst/>
            <a:ahLst/>
            <a:cxnLst/>
            <a:rect r="r" b="b" t="t" l="l"/>
            <a:pathLst>
              <a:path h="805018" w="805018">
                <a:moveTo>
                  <a:pt x="805018" y="0"/>
                </a:moveTo>
                <a:lnTo>
                  <a:pt x="0" y="0"/>
                </a:lnTo>
                <a:lnTo>
                  <a:pt x="0" y="805018"/>
                </a:lnTo>
                <a:lnTo>
                  <a:pt x="805018" y="805018"/>
                </a:lnTo>
                <a:lnTo>
                  <a:pt x="805018"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true" rot="0">
            <a:off x="15280012" y="7300604"/>
            <a:ext cx="1979288" cy="1957696"/>
          </a:xfrm>
          <a:custGeom>
            <a:avLst/>
            <a:gdLst/>
            <a:ahLst/>
            <a:cxnLst/>
            <a:rect r="r" b="b" t="t" l="l"/>
            <a:pathLst>
              <a:path h="1957696" w="1979288">
                <a:moveTo>
                  <a:pt x="0" y="1957696"/>
                </a:moveTo>
                <a:lnTo>
                  <a:pt x="1979288" y="1957696"/>
                </a:lnTo>
                <a:lnTo>
                  <a:pt x="1979288" y="0"/>
                </a:lnTo>
                <a:lnTo>
                  <a:pt x="0" y="0"/>
                </a:lnTo>
                <a:lnTo>
                  <a:pt x="0" y="1957696"/>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1028700" y="2732254"/>
            <a:ext cx="10654285" cy="1003145"/>
          </a:xfrm>
          <a:prstGeom prst="rect">
            <a:avLst/>
          </a:prstGeom>
        </p:spPr>
        <p:txBody>
          <a:bodyPr anchor="t" rtlCol="false" tIns="0" lIns="0" bIns="0" rIns="0">
            <a:spAutoFit/>
          </a:bodyPr>
          <a:lstStyle/>
          <a:p>
            <a:pPr algn="l">
              <a:lnSpc>
                <a:spcPts val="7562"/>
              </a:lnSpc>
            </a:pPr>
            <a:r>
              <a:rPr lang="en-US" sz="7414" b="true">
                <a:solidFill>
                  <a:srgbClr val="004A55"/>
                </a:solidFill>
                <a:latin typeface="Montserrat Bold"/>
                <a:ea typeface="Montserrat Bold"/>
                <a:cs typeface="Montserrat Bold"/>
                <a:sym typeface="Montserrat Bold"/>
              </a:rPr>
              <a:t>Future Improvement</a:t>
            </a:r>
          </a:p>
        </p:txBody>
      </p:sp>
      <p:sp>
        <p:nvSpPr>
          <p:cNvPr name="TextBox 7" id="7"/>
          <p:cNvSpPr txBox="true"/>
          <p:nvPr/>
        </p:nvSpPr>
        <p:spPr>
          <a:xfrm rot="0">
            <a:off x="1028700" y="3983616"/>
            <a:ext cx="14991542" cy="5924951"/>
          </a:xfrm>
          <a:prstGeom prst="rect">
            <a:avLst/>
          </a:prstGeom>
        </p:spPr>
        <p:txBody>
          <a:bodyPr anchor="t" rtlCol="false" tIns="0" lIns="0" bIns="0" rIns="0">
            <a:spAutoFit/>
          </a:bodyPr>
          <a:lstStyle/>
          <a:p>
            <a:pPr algn="l">
              <a:lnSpc>
                <a:spcPts val="3633"/>
              </a:lnSpc>
            </a:pPr>
            <a:r>
              <a:rPr lang="en-US" sz="2595">
                <a:solidFill>
                  <a:srgbClr val="004A55"/>
                </a:solidFill>
                <a:latin typeface="Montserrat"/>
                <a:ea typeface="Montserrat"/>
                <a:cs typeface="Montserrat"/>
                <a:sym typeface="Montserrat"/>
              </a:rPr>
              <a:t>1. </a:t>
            </a:r>
            <a:r>
              <a:rPr lang="en-US" sz="2595" b="true">
                <a:solidFill>
                  <a:srgbClr val="004A55"/>
                </a:solidFill>
                <a:latin typeface="Montserrat Bold"/>
                <a:ea typeface="Montserrat Bold"/>
                <a:cs typeface="Montserrat Bold"/>
                <a:sym typeface="Montserrat Bold"/>
              </a:rPr>
              <a:t>Enhanced Authentication (Social Login)</a:t>
            </a:r>
          </a:p>
          <a:p>
            <a:pPr algn="l" marL="560340" indent="-280170" lvl="1">
              <a:lnSpc>
                <a:spcPts val="3633"/>
              </a:lnSpc>
              <a:buFont typeface="Arial"/>
              <a:buChar char="•"/>
            </a:pPr>
            <a:r>
              <a:rPr lang="en-US" sz="2595">
                <a:solidFill>
                  <a:srgbClr val="004A55"/>
                </a:solidFill>
                <a:latin typeface="Montserrat"/>
                <a:ea typeface="Montserrat"/>
                <a:cs typeface="Montserrat"/>
                <a:sym typeface="Montserrat"/>
              </a:rPr>
              <a:t>Implementasi Google &amp; Apple Sign-In untuk mempermudah proses masuk (onboarding) pengguna.</a:t>
            </a:r>
          </a:p>
          <a:p>
            <a:pPr algn="l" marL="560340" indent="-280170" lvl="1">
              <a:lnSpc>
                <a:spcPts val="3633"/>
              </a:lnSpc>
              <a:buFont typeface="Arial"/>
              <a:buChar char="•"/>
            </a:pPr>
            <a:r>
              <a:rPr lang="en-US" sz="2595">
                <a:solidFill>
                  <a:srgbClr val="004A55"/>
                </a:solidFill>
                <a:latin typeface="Montserrat"/>
                <a:ea typeface="Montserrat"/>
                <a:cs typeface="Montserrat"/>
                <a:sym typeface="Montserrat"/>
              </a:rPr>
              <a:t>Mengurangi friksi saat registrasi dibandingkan input manual.</a:t>
            </a:r>
          </a:p>
          <a:p>
            <a:pPr algn="l">
              <a:lnSpc>
                <a:spcPts val="3633"/>
              </a:lnSpc>
            </a:pPr>
            <a:r>
              <a:rPr lang="en-US" sz="2595">
                <a:solidFill>
                  <a:srgbClr val="004A55"/>
                </a:solidFill>
                <a:latin typeface="Montserrat"/>
                <a:ea typeface="Montserrat"/>
                <a:cs typeface="Montserrat"/>
                <a:sym typeface="Montserrat"/>
              </a:rPr>
              <a:t>2. </a:t>
            </a:r>
            <a:r>
              <a:rPr lang="en-US" sz="2595" b="true">
                <a:solidFill>
                  <a:srgbClr val="004A55"/>
                </a:solidFill>
                <a:latin typeface="Montserrat Bold"/>
                <a:ea typeface="Montserrat Bold"/>
                <a:cs typeface="Montserrat Bold"/>
                <a:sym typeface="Montserrat Bold"/>
              </a:rPr>
              <a:t>Role-Based Access Control (RBAC)</a:t>
            </a:r>
          </a:p>
          <a:p>
            <a:pPr algn="l" marL="560340" indent="-280170" lvl="1">
              <a:lnSpc>
                <a:spcPts val="3633"/>
              </a:lnSpc>
              <a:buFont typeface="Arial"/>
              <a:buChar char="•"/>
            </a:pPr>
            <a:r>
              <a:rPr lang="en-US" sz="2595">
                <a:solidFill>
                  <a:srgbClr val="004A55"/>
                </a:solidFill>
                <a:latin typeface="Montserrat"/>
                <a:ea typeface="Montserrat"/>
                <a:cs typeface="Montserrat"/>
                <a:sym typeface="Montserrat"/>
              </a:rPr>
              <a:t>Pemisahan hak akses antara User (Student) dan Admin/Instructor.</a:t>
            </a:r>
          </a:p>
          <a:p>
            <a:pPr algn="l" marL="560340" indent="-280170" lvl="1">
              <a:lnSpc>
                <a:spcPts val="3633"/>
              </a:lnSpc>
              <a:buFont typeface="Arial"/>
              <a:buChar char="•"/>
            </a:pPr>
            <a:r>
              <a:rPr lang="en-US" sz="2595">
                <a:solidFill>
                  <a:srgbClr val="004A55"/>
                </a:solidFill>
                <a:latin typeface="Montserrat"/>
                <a:ea typeface="Montserrat"/>
                <a:cs typeface="Montserrat"/>
                <a:sym typeface="Montserrat"/>
              </a:rPr>
              <a:t>User fokus pada Learning Experience (View Only), sementara Admin memiliki akses manajemen konten (CRUD Course).</a:t>
            </a:r>
          </a:p>
          <a:p>
            <a:pPr algn="l">
              <a:lnSpc>
                <a:spcPts val="3633"/>
              </a:lnSpc>
            </a:pPr>
            <a:r>
              <a:rPr lang="en-US" sz="2595">
                <a:solidFill>
                  <a:srgbClr val="004A55"/>
                </a:solidFill>
                <a:latin typeface="Montserrat"/>
                <a:ea typeface="Montserrat"/>
                <a:cs typeface="Montserrat"/>
                <a:sym typeface="Montserrat"/>
              </a:rPr>
              <a:t>3. </a:t>
            </a:r>
            <a:r>
              <a:rPr lang="en-US" sz="2595" b="true">
                <a:solidFill>
                  <a:srgbClr val="004A55"/>
                </a:solidFill>
                <a:latin typeface="Montserrat Bold"/>
                <a:ea typeface="Montserrat Bold"/>
                <a:cs typeface="Montserrat Bold"/>
                <a:sym typeface="Montserrat Bold"/>
              </a:rPr>
              <a:t>Integrated Home Dashboard</a:t>
            </a:r>
          </a:p>
          <a:p>
            <a:pPr algn="l" marL="560340" indent="-280170" lvl="1">
              <a:lnSpc>
                <a:spcPts val="3633"/>
              </a:lnSpc>
              <a:buFont typeface="Arial"/>
              <a:buChar char="•"/>
            </a:pPr>
            <a:r>
              <a:rPr lang="en-US" sz="2595">
                <a:solidFill>
                  <a:srgbClr val="004A55"/>
                </a:solidFill>
                <a:latin typeface="Montserrat"/>
                <a:ea typeface="Montserrat"/>
                <a:cs typeface="Montserrat"/>
                <a:sym typeface="Montserrat"/>
              </a:rPr>
              <a:t>Menghubungkan data Course langsung ke Home Page.</a:t>
            </a:r>
          </a:p>
          <a:p>
            <a:pPr algn="l" marL="560340" indent="-280170" lvl="1">
              <a:lnSpc>
                <a:spcPts val="3633"/>
              </a:lnSpc>
              <a:buFont typeface="Arial"/>
              <a:buChar char="•"/>
            </a:pPr>
            <a:r>
              <a:rPr lang="en-US" sz="2595">
                <a:solidFill>
                  <a:srgbClr val="004A55"/>
                </a:solidFill>
                <a:latin typeface="Montserrat"/>
                <a:ea typeface="Montserrat"/>
                <a:cs typeface="Montserrat"/>
                <a:sym typeface="Montserrat"/>
              </a:rPr>
              <a:t>Menampilkan widget seperti "Course Progress", "Popular Courses", atau "Continue Learning" di halaman utama.</a:t>
            </a:r>
          </a:p>
          <a:p>
            <a:pPr algn="l">
              <a:lnSpc>
                <a:spcPts val="3633"/>
              </a:lnSpc>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6F6F6"/>
        </a:solidFill>
      </p:bgPr>
    </p:bg>
    <p:spTree>
      <p:nvGrpSpPr>
        <p:cNvPr id="1" name=""/>
        <p:cNvGrpSpPr/>
        <p:nvPr/>
      </p:nvGrpSpPr>
      <p:grpSpPr>
        <a:xfrm>
          <a:off x="0" y="0"/>
          <a:ext cx="0" cy="0"/>
          <a:chOff x="0" y="0"/>
          <a:chExt cx="0" cy="0"/>
        </a:xfrm>
      </p:grpSpPr>
      <p:sp>
        <p:nvSpPr>
          <p:cNvPr name="Freeform 2" id="2"/>
          <p:cNvSpPr/>
          <p:nvPr/>
        </p:nvSpPr>
        <p:spPr>
          <a:xfrm flipH="true" flipV="false" rot="0">
            <a:off x="9144000" y="0"/>
            <a:ext cx="10287000" cy="10287000"/>
          </a:xfrm>
          <a:custGeom>
            <a:avLst/>
            <a:gdLst/>
            <a:ahLst/>
            <a:cxnLst/>
            <a:rect r="r" b="b" t="t" l="l"/>
            <a:pathLst>
              <a:path h="10287000" w="10287000">
                <a:moveTo>
                  <a:pt x="10287000" y="0"/>
                </a:moveTo>
                <a:lnTo>
                  <a:pt x="0" y="0"/>
                </a:lnTo>
                <a:lnTo>
                  <a:pt x="0" y="10287000"/>
                </a:lnTo>
                <a:lnTo>
                  <a:pt x="10287000" y="10287000"/>
                </a:lnTo>
                <a:lnTo>
                  <a:pt x="10287000" y="0"/>
                </a:lnTo>
                <a:close/>
              </a:path>
            </a:pathLst>
          </a:custGeom>
          <a:blipFill>
            <a:blip r:embed="rId2">
              <a:alphaModFix amt="25000"/>
            </a:blip>
            <a:stretch>
              <a:fillRect l="0" t="0" r="0" b="0"/>
            </a:stretch>
          </a:blipFill>
        </p:spPr>
      </p:sp>
      <p:sp>
        <p:nvSpPr>
          <p:cNvPr name="Freeform 3" id="3"/>
          <p:cNvSpPr/>
          <p:nvPr/>
        </p:nvSpPr>
        <p:spPr>
          <a:xfrm flipH="false" flipV="false" rot="0">
            <a:off x="6670238" y="0"/>
            <a:ext cx="11617762" cy="10287000"/>
          </a:xfrm>
          <a:custGeom>
            <a:avLst/>
            <a:gdLst/>
            <a:ahLst/>
            <a:cxnLst/>
            <a:rect r="r" b="b" t="t" l="l"/>
            <a:pathLst>
              <a:path h="10287000" w="11617762">
                <a:moveTo>
                  <a:pt x="0" y="0"/>
                </a:moveTo>
                <a:lnTo>
                  <a:pt x="11617762" y="0"/>
                </a:lnTo>
                <a:lnTo>
                  <a:pt x="11617762" y="10287000"/>
                </a:lnTo>
                <a:lnTo>
                  <a:pt x="0" y="102870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143000" y="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alphaModFix amt="25000"/>
            </a:blip>
            <a:stretch>
              <a:fillRect l="0" t="0" r="0" b="0"/>
            </a:stretch>
          </a:blipFill>
        </p:spPr>
      </p:sp>
      <p:sp>
        <p:nvSpPr>
          <p:cNvPr name="Freeform 5" id="5"/>
          <p:cNvSpPr/>
          <p:nvPr/>
        </p:nvSpPr>
        <p:spPr>
          <a:xfrm flipH="true" flipV="false" rot="0">
            <a:off x="1028700" y="1029604"/>
            <a:ext cx="805018" cy="805018"/>
          </a:xfrm>
          <a:custGeom>
            <a:avLst/>
            <a:gdLst/>
            <a:ahLst/>
            <a:cxnLst/>
            <a:rect r="r" b="b" t="t" l="l"/>
            <a:pathLst>
              <a:path h="805018" w="805018">
                <a:moveTo>
                  <a:pt x="805018" y="0"/>
                </a:moveTo>
                <a:lnTo>
                  <a:pt x="0" y="0"/>
                </a:lnTo>
                <a:lnTo>
                  <a:pt x="0" y="805018"/>
                </a:lnTo>
                <a:lnTo>
                  <a:pt x="805018" y="805018"/>
                </a:lnTo>
                <a:lnTo>
                  <a:pt x="805018"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true" rot="0">
            <a:off x="15280012" y="7300604"/>
            <a:ext cx="1979288" cy="1957696"/>
          </a:xfrm>
          <a:custGeom>
            <a:avLst/>
            <a:gdLst/>
            <a:ahLst/>
            <a:cxnLst/>
            <a:rect r="r" b="b" t="t" l="l"/>
            <a:pathLst>
              <a:path h="1957696" w="1979288">
                <a:moveTo>
                  <a:pt x="0" y="1957696"/>
                </a:moveTo>
                <a:lnTo>
                  <a:pt x="1979288" y="1957696"/>
                </a:lnTo>
                <a:lnTo>
                  <a:pt x="1979288" y="0"/>
                </a:lnTo>
                <a:lnTo>
                  <a:pt x="0" y="0"/>
                </a:lnTo>
                <a:lnTo>
                  <a:pt x="0" y="1957696"/>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8866550" y="1915725"/>
            <a:ext cx="7403105" cy="7039680"/>
          </a:xfrm>
          <a:custGeom>
            <a:avLst/>
            <a:gdLst/>
            <a:ahLst/>
            <a:cxnLst/>
            <a:rect r="r" b="b" t="t" l="l"/>
            <a:pathLst>
              <a:path h="7039680" w="7403105">
                <a:moveTo>
                  <a:pt x="0" y="0"/>
                </a:moveTo>
                <a:lnTo>
                  <a:pt x="7403106" y="0"/>
                </a:lnTo>
                <a:lnTo>
                  <a:pt x="7403106" y="7039680"/>
                </a:lnTo>
                <a:lnTo>
                  <a:pt x="0" y="703968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8" id="8"/>
          <p:cNvSpPr txBox="true"/>
          <p:nvPr/>
        </p:nvSpPr>
        <p:spPr>
          <a:xfrm rot="0">
            <a:off x="1028700" y="3500164"/>
            <a:ext cx="8115300" cy="2953126"/>
          </a:xfrm>
          <a:prstGeom prst="rect">
            <a:avLst/>
          </a:prstGeom>
        </p:spPr>
        <p:txBody>
          <a:bodyPr anchor="t" rtlCol="false" tIns="0" lIns="0" bIns="0" rIns="0">
            <a:spAutoFit/>
          </a:bodyPr>
          <a:lstStyle/>
          <a:p>
            <a:pPr algn="l">
              <a:lnSpc>
                <a:spcPts val="11405"/>
              </a:lnSpc>
            </a:pPr>
            <a:r>
              <a:rPr lang="en-US" sz="11182" b="true">
                <a:solidFill>
                  <a:srgbClr val="004A55"/>
                </a:solidFill>
                <a:latin typeface="Montserrat Bold"/>
                <a:ea typeface="Montserrat Bold"/>
                <a:cs typeface="Montserrat Bold"/>
                <a:sym typeface="Montserrat Bold"/>
              </a:rPr>
              <a:t>Any Question?</a:t>
            </a:r>
          </a:p>
        </p:txBody>
      </p:sp>
      <p:sp>
        <p:nvSpPr>
          <p:cNvPr name="TextBox 9" id="9"/>
          <p:cNvSpPr txBox="true"/>
          <p:nvPr/>
        </p:nvSpPr>
        <p:spPr>
          <a:xfrm rot="0">
            <a:off x="1991244" y="1077229"/>
            <a:ext cx="1660711" cy="838495"/>
          </a:xfrm>
          <a:prstGeom prst="rect">
            <a:avLst/>
          </a:prstGeom>
        </p:spPr>
        <p:txBody>
          <a:bodyPr anchor="t" rtlCol="false" tIns="0" lIns="0" bIns="0" rIns="0">
            <a:spAutoFit/>
          </a:bodyPr>
          <a:lstStyle/>
          <a:p>
            <a:pPr algn="l">
              <a:lnSpc>
                <a:spcPts val="3215"/>
              </a:lnSpc>
            </a:pPr>
            <a:r>
              <a:rPr lang="en-US" sz="3151" b="true">
                <a:solidFill>
                  <a:srgbClr val="004A55"/>
                </a:solidFill>
                <a:latin typeface="Montserrat Bold"/>
                <a:ea typeface="Montserrat Bold"/>
                <a:cs typeface="Montserrat Bold"/>
                <a:sym typeface="Montserrat Bold"/>
              </a:rPr>
              <a:t>Logo</a:t>
            </a:r>
          </a:p>
          <a:p>
            <a:pPr algn="l">
              <a:lnSpc>
                <a:spcPts val="3215"/>
              </a:lnSpc>
            </a:pPr>
            <a:r>
              <a:rPr lang="en-US" sz="3151" b="true">
                <a:solidFill>
                  <a:srgbClr val="004A55"/>
                </a:solidFill>
                <a:latin typeface="Montserrat Bold"/>
                <a:ea typeface="Montserrat Bold"/>
                <a:cs typeface="Montserrat Bold"/>
                <a:sym typeface="Montserrat Bold"/>
              </a:rPr>
              <a:t>Here</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6F6F6"/>
        </a:solidFill>
      </p:bgPr>
    </p:bg>
    <p:spTree>
      <p:nvGrpSpPr>
        <p:cNvPr id="1" name=""/>
        <p:cNvGrpSpPr/>
        <p:nvPr/>
      </p:nvGrpSpPr>
      <p:grpSpPr>
        <a:xfrm>
          <a:off x="0" y="0"/>
          <a:ext cx="0" cy="0"/>
          <a:chOff x="0" y="0"/>
          <a:chExt cx="0" cy="0"/>
        </a:xfrm>
      </p:grpSpPr>
      <p:sp>
        <p:nvSpPr>
          <p:cNvPr name="Freeform 2" id="2"/>
          <p:cNvSpPr/>
          <p:nvPr/>
        </p:nvSpPr>
        <p:spPr>
          <a:xfrm flipH="true" flipV="false" rot="0">
            <a:off x="9144000" y="0"/>
            <a:ext cx="10287000" cy="10287000"/>
          </a:xfrm>
          <a:custGeom>
            <a:avLst/>
            <a:gdLst/>
            <a:ahLst/>
            <a:cxnLst/>
            <a:rect r="r" b="b" t="t" l="l"/>
            <a:pathLst>
              <a:path h="10287000" w="10287000">
                <a:moveTo>
                  <a:pt x="10287000" y="0"/>
                </a:moveTo>
                <a:lnTo>
                  <a:pt x="0" y="0"/>
                </a:lnTo>
                <a:lnTo>
                  <a:pt x="0" y="10287000"/>
                </a:lnTo>
                <a:lnTo>
                  <a:pt x="10287000" y="10287000"/>
                </a:lnTo>
                <a:lnTo>
                  <a:pt x="10287000" y="0"/>
                </a:lnTo>
                <a:close/>
              </a:path>
            </a:pathLst>
          </a:custGeom>
          <a:blipFill>
            <a:blip r:embed="rId2">
              <a:alphaModFix amt="25000"/>
            </a:blip>
            <a:stretch>
              <a:fillRect l="0" t="0" r="0" b="0"/>
            </a:stretch>
          </a:blipFill>
        </p:spPr>
      </p:sp>
      <p:sp>
        <p:nvSpPr>
          <p:cNvPr name="Freeform 3" id="3"/>
          <p:cNvSpPr/>
          <p:nvPr/>
        </p:nvSpPr>
        <p:spPr>
          <a:xfrm flipH="false" flipV="false" rot="0">
            <a:off x="-1143000" y="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alphaModFix amt="25000"/>
            </a:blip>
            <a:stretch>
              <a:fillRect l="0" t="0" r="0" b="0"/>
            </a:stretch>
          </a:blipFill>
        </p:spPr>
      </p:sp>
      <p:sp>
        <p:nvSpPr>
          <p:cNvPr name="Freeform 4" id="4"/>
          <p:cNvSpPr/>
          <p:nvPr/>
        </p:nvSpPr>
        <p:spPr>
          <a:xfrm flipH="false" flipV="true" rot="0">
            <a:off x="15280012" y="7300604"/>
            <a:ext cx="1979288" cy="1957696"/>
          </a:xfrm>
          <a:custGeom>
            <a:avLst/>
            <a:gdLst/>
            <a:ahLst/>
            <a:cxnLst/>
            <a:rect r="r" b="b" t="t" l="l"/>
            <a:pathLst>
              <a:path h="1957696" w="1979288">
                <a:moveTo>
                  <a:pt x="0" y="1957696"/>
                </a:moveTo>
                <a:lnTo>
                  <a:pt x="1979288" y="1957696"/>
                </a:lnTo>
                <a:lnTo>
                  <a:pt x="1979288" y="0"/>
                </a:lnTo>
                <a:lnTo>
                  <a:pt x="0" y="0"/>
                </a:lnTo>
                <a:lnTo>
                  <a:pt x="0" y="1957696"/>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7684347" y="5120635"/>
            <a:ext cx="512450" cy="436980"/>
          </a:xfrm>
          <a:custGeom>
            <a:avLst/>
            <a:gdLst/>
            <a:ahLst/>
            <a:cxnLst/>
            <a:rect r="r" b="b" t="t" l="l"/>
            <a:pathLst>
              <a:path h="436980" w="512450">
                <a:moveTo>
                  <a:pt x="0" y="0"/>
                </a:moveTo>
                <a:lnTo>
                  <a:pt x="512451" y="0"/>
                </a:lnTo>
                <a:lnTo>
                  <a:pt x="512451" y="436980"/>
                </a:lnTo>
                <a:lnTo>
                  <a:pt x="0" y="43698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2219917" y="4145330"/>
            <a:ext cx="13848166" cy="998170"/>
          </a:xfrm>
          <a:prstGeom prst="rect">
            <a:avLst/>
          </a:prstGeom>
        </p:spPr>
        <p:txBody>
          <a:bodyPr anchor="t" rtlCol="false" tIns="0" lIns="0" bIns="0" rIns="0">
            <a:spAutoFit/>
          </a:bodyPr>
          <a:lstStyle/>
          <a:p>
            <a:pPr algn="ctr">
              <a:lnSpc>
                <a:spcPts val="7562"/>
              </a:lnSpc>
            </a:pPr>
            <a:r>
              <a:rPr lang="en-US" sz="7414" b="true">
                <a:solidFill>
                  <a:srgbClr val="004A55"/>
                </a:solidFill>
                <a:latin typeface="Montserrat Bold"/>
                <a:ea typeface="Montserrat Bold"/>
                <a:cs typeface="Montserrat Bold"/>
                <a:sym typeface="Montserrat Bold"/>
              </a:rPr>
              <a:t>TERIMA KASIH</a:t>
            </a:r>
          </a:p>
        </p:txBody>
      </p:sp>
      <p:sp>
        <p:nvSpPr>
          <p:cNvPr name="TextBox 7" id="7"/>
          <p:cNvSpPr txBox="true"/>
          <p:nvPr/>
        </p:nvSpPr>
        <p:spPr>
          <a:xfrm rot="0">
            <a:off x="8196798" y="5063485"/>
            <a:ext cx="3329974" cy="471265"/>
          </a:xfrm>
          <a:prstGeom prst="rect">
            <a:avLst/>
          </a:prstGeom>
        </p:spPr>
        <p:txBody>
          <a:bodyPr anchor="t" rtlCol="false" tIns="0" lIns="0" bIns="0" rIns="0">
            <a:spAutoFit/>
          </a:bodyPr>
          <a:lstStyle/>
          <a:p>
            <a:pPr algn="l">
              <a:lnSpc>
                <a:spcPts val="3845"/>
              </a:lnSpc>
            </a:pPr>
            <a:r>
              <a:rPr lang="en-US" sz="2747">
                <a:solidFill>
                  <a:srgbClr val="004A55"/>
                </a:solidFill>
                <a:latin typeface="Montserrat"/>
                <a:ea typeface="Montserrat"/>
                <a:cs typeface="Montserrat"/>
                <a:sym typeface="Montserrat"/>
              </a:rPr>
              <a:t>kevinbanamtuan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DAG6uV1td2w</dc:identifier>
  <dcterms:modified xsi:type="dcterms:W3CDTF">2011-08-01T06:04:30Z</dcterms:modified>
  <cp:revision>1</cp:revision>
  <dc:title>Luarsekolah Mobile App</dc:title>
</cp:coreProperties>
</file>