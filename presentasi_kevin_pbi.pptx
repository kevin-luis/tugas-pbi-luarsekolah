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Montserrat Bold" charset="1" panose="00000800000000000000"/>
      <p:regular r:id="rId20"/>
    </p:embeddedFont>
    <p:embeddedFont>
      <p:font typeface="Montserrat Medium" charset="1" panose="00000600000000000000"/>
      <p:regular r:id="rId21"/>
    </p:embeddedFont>
    <p:embeddedFont>
      <p:font typeface="Montserrat" charset="1" panose="0000050000000000000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7.png" Type="http://schemas.openxmlformats.org/officeDocument/2006/relationships/image"/><Relationship Id="rId2" Target="../media/image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 Id="rId9" Target="../media/image10.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1.png" Type="http://schemas.openxmlformats.org/officeDocument/2006/relationships/image"/><Relationship Id="rId8"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svg" Type="http://schemas.openxmlformats.org/officeDocument/2006/relationships/image"/><Relationship Id="rId2" Target="../media/image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 Id="rId9" Target="../media/image1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7.svg" Type="http://schemas.openxmlformats.org/officeDocument/2006/relationships/image"/><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4.png" Type="http://schemas.openxmlformats.org/officeDocument/2006/relationships/image"/><Relationship Id="rId8" Target="../media/image15.png" Type="http://schemas.openxmlformats.org/officeDocument/2006/relationships/image"/><Relationship Id="rId9" Target="../media/image1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0.png" Type="http://schemas.openxmlformats.org/officeDocument/2006/relationships/image"/><Relationship Id="rId8" Target="../media/image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svg" Type="http://schemas.openxmlformats.org/officeDocument/2006/relationships/image"/><Relationship Id="rId2" Target="../media/image3.png" Type="http://schemas.openxmlformats.org/officeDocument/2006/relationships/image"/><Relationship Id="rId3" Target="../media/image1.png" Type="http://schemas.openxmlformats.org/officeDocument/2006/relationships/image"/><Relationship Id="rId4" Target="../media/image2.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8.png" Type="http://schemas.openxmlformats.org/officeDocument/2006/relationships/image"/><Relationship Id="rId8" Target="../media/image9.svg" Type="http://schemas.openxmlformats.org/officeDocument/2006/relationships/image"/><Relationship Id="rId9" Target="../media/image18.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8.png" Type="http://schemas.openxmlformats.org/officeDocument/2006/relationships/image"/><Relationship Id="rId4" Target="../media/image9.svg" Type="http://schemas.openxmlformats.org/officeDocument/2006/relationships/image"/><Relationship Id="rId5" Target="../media/image20.png" Type="http://schemas.openxmlformats.org/officeDocument/2006/relationships/image"/><Relationship Id="rId6" Target="../media/image21.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false" flipV="false" rot="0">
            <a:off x="6670238" y="0"/>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4">
              <a:alphaModFix amt="25000"/>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4">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2150942" y="902821"/>
            <a:ext cx="3776531" cy="8252799"/>
          </a:xfrm>
          <a:custGeom>
            <a:avLst/>
            <a:gdLst/>
            <a:ahLst/>
            <a:cxnLst/>
            <a:rect r="r" b="b" t="t" l="l"/>
            <a:pathLst>
              <a:path h="8252799" w="3776531">
                <a:moveTo>
                  <a:pt x="0" y="0"/>
                </a:moveTo>
                <a:lnTo>
                  <a:pt x="3776532" y="0"/>
                </a:lnTo>
                <a:lnTo>
                  <a:pt x="3776532" y="8252799"/>
                </a:lnTo>
                <a:lnTo>
                  <a:pt x="0" y="8252799"/>
                </a:lnTo>
                <a:lnTo>
                  <a:pt x="0" y="0"/>
                </a:lnTo>
                <a:close/>
              </a:path>
            </a:pathLst>
          </a:custGeom>
          <a:blipFill>
            <a:blip r:embed="rId7"/>
            <a:stretch>
              <a:fillRect l="0" t="-986" r="0" b="-986"/>
            </a:stretch>
          </a:blipFill>
        </p:spPr>
      </p:sp>
      <p:sp>
        <p:nvSpPr>
          <p:cNvPr name="Freeform 7" id="7"/>
          <p:cNvSpPr/>
          <p:nvPr/>
        </p:nvSpPr>
        <p:spPr>
          <a:xfrm flipH="false" flipV="false" rot="0">
            <a:off x="11378354" y="646628"/>
            <a:ext cx="5321707" cy="8765186"/>
          </a:xfrm>
          <a:custGeom>
            <a:avLst/>
            <a:gdLst/>
            <a:ahLst/>
            <a:cxnLst/>
            <a:rect r="r" b="b" t="t" l="l"/>
            <a:pathLst>
              <a:path h="8765186" w="5321707">
                <a:moveTo>
                  <a:pt x="0" y="0"/>
                </a:moveTo>
                <a:lnTo>
                  <a:pt x="5321708" y="0"/>
                </a:lnTo>
                <a:lnTo>
                  <a:pt x="5321708" y="8765185"/>
                </a:lnTo>
                <a:lnTo>
                  <a:pt x="0" y="8765185"/>
                </a:lnTo>
                <a:lnTo>
                  <a:pt x="0" y="0"/>
                </a:lnTo>
                <a:close/>
              </a:path>
            </a:pathLst>
          </a:custGeom>
          <a:blipFill>
            <a:blip r:embed="rId8"/>
            <a:stretch>
              <a:fillRect l="-956" t="0" r="-956" b="0"/>
            </a:stretch>
          </a:blipFill>
        </p:spPr>
      </p:sp>
      <p:sp>
        <p:nvSpPr>
          <p:cNvPr name="TextBox 8" id="8"/>
          <p:cNvSpPr txBox="true"/>
          <p:nvPr/>
        </p:nvSpPr>
        <p:spPr>
          <a:xfrm rot="0">
            <a:off x="1028700" y="3217789"/>
            <a:ext cx="8754817" cy="2608757"/>
          </a:xfrm>
          <a:prstGeom prst="rect">
            <a:avLst/>
          </a:prstGeom>
        </p:spPr>
        <p:txBody>
          <a:bodyPr anchor="t" rtlCol="false" tIns="0" lIns="0" bIns="0" rIns="0">
            <a:spAutoFit/>
          </a:bodyPr>
          <a:lstStyle/>
          <a:p>
            <a:pPr algn="l">
              <a:lnSpc>
                <a:spcPts val="10100"/>
              </a:lnSpc>
            </a:pPr>
            <a:r>
              <a:rPr lang="en-US" sz="9902" b="true">
                <a:solidFill>
                  <a:srgbClr val="004A55"/>
                </a:solidFill>
                <a:latin typeface="Montserrat Bold"/>
                <a:ea typeface="Montserrat Bold"/>
                <a:cs typeface="Montserrat Bold"/>
                <a:sym typeface="Montserrat Bold"/>
              </a:rPr>
              <a:t>Luarsekolah Final Project</a:t>
            </a:r>
          </a:p>
        </p:txBody>
      </p:sp>
      <p:sp>
        <p:nvSpPr>
          <p:cNvPr name="TextBox 9" id="9"/>
          <p:cNvSpPr txBox="true"/>
          <p:nvPr/>
        </p:nvSpPr>
        <p:spPr>
          <a:xfrm rot="0">
            <a:off x="1028700" y="6548519"/>
            <a:ext cx="6647324" cy="529644"/>
          </a:xfrm>
          <a:prstGeom prst="rect">
            <a:avLst/>
          </a:prstGeom>
        </p:spPr>
        <p:txBody>
          <a:bodyPr anchor="t" rtlCol="false" tIns="0" lIns="0" bIns="0" rIns="0">
            <a:spAutoFit/>
          </a:bodyPr>
          <a:lstStyle/>
          <a:p>
            <a:pPr algn="l">
              <a:lnSpc>
                <a:spcPts val="4079"/>
              </a:lnSpc>
            </a:pPr>
            <a:r>
              <a:rPr lang="en-US" sz="3999" b="true">
                <a:solidFill>
                  <a:srgbClr val="004A55"/>
                </a:solidFill>
                <a:latin typeface="Montserrat Medium"/>
                <a:ea typeface="Montserrat Medium"/>
                <a:cs typeface="Montserrat Medium"/>
                <a:sym typeface="Montserrat Medium"/>
              </a:rPr>
              <a:t>Kevin Luis Banamtuan</a:t>
            </a:r>
          </a:p>
        </p:txBody>
      </p:sp>
      <p:sp>
        <p:nvSpPr>
          <p:cNvPr name="TextBox 10" id="10"/>
          <p:cNvSpPr txBox="true"/>
          <p:nvPr/>
        </p:nvSpPr>
        <p:spPr>
          <a:xfrm rot="0">
            <a:off x="1028700" y="7135313"/>
            <a:ext cx="6647324" cy="368782"/>
          </a:xfrm>
          <a:prstGeom prst="rect">
            <a:avLst/>
          </a:prstGeom>
        </p:spPr>
        <p:txBody>
          <a:bodyPr anchor="t" rtlCol="false" tIns="0" lIns="0" bIns="0" rIns="0">
            <a:spAutoFit/>
          </a:bodyPr>
          <a:lstStyle/>
          <a:p>
            <a:pPr algn="l">
              <a:lnSpc>
                <a:spcPts val="2856"/>
              </a:lnSpc>
            </a:pPr>
            <a:r>
              <a:rPr lang="en-US" sz="2800" b="true">
                <a:solidFill>
                  <a:srgbClr val="004A55"/>
                </a:solidFill>
                <a:latin typeface="Montserrat Medium"/>
                <a:ea typeface="Montserrat Medium"/>
                <a:cs typeface="Montserrat Medium"/>
                <a:sym typeface="Montserrat Medium"/>
              </a:rPr>
              <a:t>Software Engineer (Mobile)</a:t>
            </a:r>
          </a:p>
        </p:txBody>
      </p:sp>
      <p:sp>
        <p:nvSpPr>
          <p:cNvPr name="TextBox 11" id="11"/>
          <p:cNvSpPr txBox="true"/>
          <p:nvPr/>
        </p:nvSpPr>
        <p:spPr>
          <a:xfrm rot="0">
            <a:off x="1028700" y="2687083"/>
            <a:ext cx="6647324" cy="368782"/>
          </a:xfrm>
          <a:prstGeom prst="rect">
            <a:avLst/>
          </a:prstGeom>
        </p:spPr>
        <p:txBody>
          <a:bodyPr anchor="t" rtlCol="false" tIns="0" lIns="0" bIns="0" rIns="0">
            <a:spAutoFit/>
          </a:bodyPr>
          <a:lstStyle/>
          <a:p>
            <a:pPr algn="l">
              <a:lnSpc>
                <a:spcPts val="2856"/>
              </a:lnSpc>
            </a:pPr>
            <a:r>
              <a:rPr lang="en-US" sz="2800" b="true">
                <a:solidFill>
                  <a:srgbClr val="004A55"/>
                </a:solidFill>
                <a:latin typeface="Montserrat Medium"/>
                <a:ea typeface="Montserrat Medium"/>
                <a:cs typeface="Montserrat Medium"/>
                <a:sym typeface="Montserrat Medium"/>
              </a:rPr>
              <a:t>Project Based Internship</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9144000" y="651875"/>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0">
            <a:off x="12202084" y="809264"/>
            <a:ext cx="3674248" cy="8187740"/>
          </a:xfrm>
          <a:custGeom>
            <a:avLst/>
            <a:gdLst/>
            <a:ahLst/>
            <a:cxnLst/>
            <a:rect r="r" b="b" t="t" l="l"/>
            <a:pathLst>
              <a:path h="8187740" w="3674248">
                <a:moveTo>
                  <a:pt x="0" y="0"/>
                </a:moveTo>
                <a:lnTo>
                  <a:pt x="3674248" y="0"/>
                </a:lnTo>
                <a:lnTo>
                  <a:pt x="3674248" y="8187740"/>
                </a:lnTo>
                <a:lnTo>
                  <a:pt x="0" y="8187740"/>
                </a:lnTo>
                <a:lnTo>
                  <a:pt x="0" y="0"/>
                </a:lnTo>
                <a:close/>
              </a:path>
            </a:pathLst>
          </a:custGeom>
          <a:blipFill>
            <a:blip r:embed="rId9"/>
            <a:stretch>
              <a:fillRect l="0" t="0" r="0" b="0"/>
            </a:stretch>
          </a:blipFill>
        </p:spPr>
      </p:sp>
      <p:sp>
        <p:nvSpPr>
          <p:cNvPr name="Freeform 8" id="8"/>
          <p:cNvSpPr/>
          <p:nvPr/>
        </p:nvSpPr>
        <p:spPr>
          <a:xfrm flipH="false" flipV="false" rot="0">
            <a:off x="11378354" y="646628"/>
            <a:ext cx="5321707" cy="8765186"/>
          </a:xfrm>
          <a:custGeom>
            <a:avLst/>
            <a:gdLst/>
            <a:ahLst/>
            <a:cxnLst/>
            <a:rect r="r" b="b" t="t" l="l"/>
            <a:pathLst>
              <a:path h="8765186" w="5321707">
                <a:moveTo>
                  <a:pt x="0" y="0"/>
                </a:moveTo>
                <a:lnTo>
                  <a:pt x="5321708" y="0"/>
                </a:lnTo>
                <a:lnTo>
                  <a:pt x="5321708" y="8765185"/>
                </a:lnTo>
                <a:lnTo>
                  <a:pt x="0" y="8765185"/>
                </a:lnTo>
                <a:lnTo>
                  <a:pt x="0" y="0"/>
                </a:lnTo>
                <a:close/>
              </a:path>
            </a:pathLst>
          </a:custGeom>
          <a:blipFill>
            <a:blip r:embed="rId10"/>
            <a:stretch>
              <a:fillRect l="-956" t="0" r="-956" b="0"/>
            </a:stretch>
          </a:blipFill>
        </p:spPr>
      </p:sp>
      <p:sp>
        <p:nvSpPr>
          <p:cNvPr name="TextBox 9" id="9"/>
          <p:cNvSpPr txBox="true"/>
          <p:nvPr/>
        </p:nvSpPr>
        <p:spPr>
          <a:xfrm rot="0">
            <a:off x="1028700" y="2732254"/>
            <a:ext cx="7803867" cy="1003145"/>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Introduction</a:t>
            </a:r>
          </a:p>
        </p:txBody>
      </p:sp>
      <p:sp>
        <p:nvSpPr>
          <p:cNvPr name="TextBox 10" id="10"/>
          <p:cNvSpPr txBox="true"/>
          <p:nvPr/>
        </p:nvSpPr>
        <p:spPr>
          <a:xfrm rot="0">
            <a:off x="1028700" y="4031477"/>
            <a:ext cx="9275954" cy="4096259"/>
          </a:xfrm>
          <a:prstGeom prst="rect">
            <a:avLst/>
          </a:prstGeom>
        </p:spPr>
        <p:txBody>
          <a:bodyPr anchor="t" rtlCol="false" tIns="0" lIns="0" bIns="0" rIns="0">
            <a:spAutoFit/>
          </a:bodyPr>
          <a:lstStyle/>
          <a:p>
            <a:pPr algn="l">
              <a:lnSpc>
                <a:spcPts val="3633"/>
              </a:lnSpc>
            </a:pPr>
            <a:r>
              <a:rPr lang="en-US" sz="2595" b="true">
                <a:solidFill>
                  <a:srgbClr val="004A55"/>
                </a:solidFill>
                <a:latin typeface="Montserrat Bold"/>
                <a:ea typeface="Montserrat Bold"/>
                <a:cs typeface="Montserrat Bold"/>
                <a:sym typeface="Montserrat Bold"/>
              </a:rPr>
              <a:t>Luarsekolah App</a:t>
            </a:r>
            <a:r>
              <a:rPr lang="en-US" sz="2595">
                <a:solidFill>
                  <a:srgbClr val="004A55"/>
                </a:solidFill>
                <a:latin typeface="Montserrat"/>
                <a:ea typeface="Montserrat"/>
                <a:cs typeface="Montserrat"/>
                <a:sym typeface="Montserrat"/>
              </a:rPr>
              <a:t> adalah sebuah aplikasi mobile yang dirancang untuk memfasilitasi pengguna dalam mengakses pembelajaran sekaligus mengatur produktivitas mereka. Tujuan utama pembuatan aplikasi ini adalah menyediakan platform yang tidak hanya memungkinkan pengguna mengambil kelas (Course), tetapi juga membantu mereka disiplin melalui fitur manajemen tugas (Todo List) yang terintegrasi langsung dengan sistem pengingat.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028700" y="3178199"/>
            <a:ext cx="10922659" cy="6382124"/>
          </a:xfrm>
          <a:prstGeom prst="rect">
            <a:avLst/>
          </a:prstGeom>
        </p:spPr>
        <p:txBody>
          <a:bodyPr anchor="t" rtlCol="false" tIns="0" lIns="0" bIns="0" rIns="0">
            <a:spAutoFit/>
          </a:bodyPr>
          <a:lstStyle/>
          <a:p>
            <a:pPr algn="l">
              <a:lnSpc>
                <a:spcPts val="3633"/>
              </a:lnSpc>
            </a:pPr>
            <a:r>
              <a:rPr lang="en-US" sz="2595" b="true">
                <a:solidFill>
                  <a:srgbClr val="004A55"/>
                </a:solidFill>
                <a:latin typeface="Montserrat Bold"/>
                <a:ea typeface="Montserrat Bold"/>
                <a:cs typeface="Montserrat Bold"/>
                <a:sym typeface="Montserrat Bold"/>
              </a:rPr>
              <a:t>Fitur yang dikembangkan:</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Authentication</a:t>
            </a:r>
            <a:r>
              <a:rPr lang="en-US" sz="2595">
                <a:solidFill>
                  <a:srgbClr val="004A55"/>
                </a:solidFill>
                <a:latin typeface="Montserrat"/>
                <a:ea typeface="Montserrat"/>
                <a:cs typeface="Montserrat"/>
                <a:sym typeface="Montserrat"/>
              </a:rPr>
              <a:t>: Keamanan akses pengguna menggunakan Login dan Register.</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Home Dashboard</a:t>
            </a:r>
            <a:r>
              <a:rPr lang="en-US" sz="2595">
                <a:solidFill>
                  <a:srgbClr val="004A55"/>
                </a:solidFill>
                <a:latin typeface="Montserrat"/>
                <a:ea typeface="Montserrat"/>
                <a:cs typeface="Montserrat"/>
                <a:sym typeface="Montserrat"/>
              </a:rPr>
              <a:t>: Tampilan utama untuk navigasi cepat.</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Course Management</a:t>
            </a:r>
            <a:r>
              <a:rPr lang="en-US" sz="2595">
                <a:solidFill>
                  <a:srgbClr val="004A55"/>
                </a:solidFill>
                <a:latin typeface="Montserrat"/>
                <a:ea typeface="Montserrat"/>
                <a:cs typeface="Montserrat"/>
                <a:sym typeface="Montserrat"/>
              </a:rPr>
              <a:t>: Pengguna bisa melihat daftar kelas, serta melakukan operasi CRUD (Create, Read, Update, Delete) data kelas.</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Todo &amp; Reminder</a:t>
            </a:r>
            <a:r>
              <a:rPr lang="en-US" sz="2595">
                <a:solidFill>
                  <a:srgbClr val="004A55"/>
                </a:solidFill>
                <a:latin typeface="Montserrat"/>
                <a:ea typeface="Montserrat"/>
                <a:cs typeface="Montserrat"/>
                <a:sym typeface="Montserrat"/>
              </a:rPr>
              <a:t>: Fitur produktivitas dengan CRUD tugas. Fitur ini spesial karena dilengkapi sistem pengingat ganda, yaitu Local Notification untuk alarm di perangkat dan FCM (Firebase Cloud Messaging) untuk notifikasi berbasis server.</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Account Menu</a:t>
            </a:r>
            <a:r>
              <a:rPr lang="en-US" sz="2595">
                <a:solidFill>
                  <a:srgbClr val="004A55"/>
                </a:solidFill>
                <a:latin typeface="Montserrat"/>
                <a:ea typeface="Montserrat"/>
                <a:cs typeface="Montserrat"/>
                <a:sym typeface="Montserrat"/>
              </a:rPr>
              <a:t>: Manajemen profil pengguna, termasuk Edit Profile dan Logout.</a:t>
            </a:r>
          </a:p>
          <a:p>
            <a:pPr algn="l">
              <a:lnSpc>
                <a:spcPts val="3633"/>
              </a:lnSpc>
            </a:pPr>
          </a:p>
        </p:txBody>
      </p:sp>
      <p:sp>
        <p:nvSpPr>
          <p:cNvPr name="Freeform 7" id="7"/>
          <p:cNvSpPr/>
          <p:nvPr/>
        </p:nvSpPr>
        <p:spPr>
          <a:xfrm flipH="false" flipV="false" rot="0">
            <a:off x="13379967" y="1029604"/>
            <a:ext cx="3745976" cy="8347578"/>
          </a:xfrm>
          <a:custGeom>
            <a:avLst/>
            <a:gdLst/>
            <a:ahLst/>
            <a:cxnLst/>
            <a:rect r="r" b="b" t="t" l="l"/>
            <a:pathLst>
              <a:path h="8347578" w="3745976">
                <a:moveTo>
                  <a:pt x="0" y="0"/>
                </a:moveTo>
                <a:lnTo>
                  <a:pt x="3745976" y="0"/>
                </a:lnTo>
                <a:lnTo>
                  <a:pt x="3745976" y="8347579"/>
                </a:lnTo>
                <a:lnTo>
                  <a:pt x="0" y="8347579"/>
                </a:lnTo>
                <a:lnTo>
                  <a:pt x="0" y="0"/>
                </a:lnTo>
                <a:close/>
              </a:path>
            </a:pathLst>
          </a:custGeom>
          <a:blipFill>
            <a:blip r:embed="rId7"/>
            <a:stretch>
              <a:fillRect l="0" t="0" r="0" b="0"/>
            </a:stretch>
          </a:blipFill>
        </p:spPr>
      </p:sp>
      <p:sp>
        <p:nvSpPr>
          <p:cNvPr name="Freeform 8" id="8"/>
          <p:cNvSpPr/>
          <p:nvPr/>
        </p:nvSpPr>
        <p:spPr>
          <a:xfrm flipH="false" flipV="false" rot="0">
            <a:off x="12573051" y="795137"/>
            <a:ext cx="5321707" cy="8765186"/>
          </a:xfrm>
          <a:custGeom>
            <a:avLst/>
            <a:gdLst/>
            <a:ahLst/>
            <a:cxnLst/>
            <a:rect r="r" b="b" t="t" l="l"/>
            <a:pathLst>
              <a:path h="8765186" w="5321707">
                <a:moveTo>
                  <a:pt x="0" y="0"/>
                </a:moveTo>
                <a:lnTo>
                  <a:pt x="5321707" y="0"/>
                </a:lnTo>
                <a:lnTo>
                  <a:pt x="5321707" y="8765186"/>
                </a:lnTo>
                <a:lnTo>
                  <a:pt x="0" y="8765186"/>
                </a:lnTo>
                <a:lnTo>
                  <a:pt x="0" y="0"/>
                </a:lnTo>
                <a:close/>
              </a:path>
            </a:pathLst>
          </a:custGeom>
          <a:blipFill>
            <a:blip r:embed="rId8"/>
            <a:stretch>
              <a:fillRect l="-956" t="0" r="-956" b="0"/>
            </a:stretch>
          </a:blipFill>
        </p:spPr>
      </p:sp>
      <p:sp>
        <p:nvSpPr>
          <p:cNvPr name="TextBox 9" id="9"/>
          <p:cNvSpPr txBox="true"/>
          <p:nvPr/>
        </p:nvSpPr>
        <p:spPr>
          <a:xfrm rot="0">
            <a:off x="1028700" y="2222679"/>
            <a:ext cx="8859702" cy="1003145"/>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Feature Overview</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6670238" y="0"/>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0">
            <a:off x="10058519" y="2545592"/>
            <a:ext cx="6872381" cy="6447543"/>
          </a:xfrm>
          <a:custGeom>
            <a:avLst/>
            <a:gdLst/>
            <a:ahLst/>
            <a:cxnLst/>
            <a:rect r="r" b="b" t="t" l="l"/>
            <a:pathLst>
              <a:path h="6447543" w="6872381">
                <a:moveTo>
                  <a:pt x="0" y="0"/>
                </a:moveTo>
                <a:lnTo>
                  <a:pt x="6872381" y="0"/>
                </a:lnTo>
                <a:lnTo>
                  <a:pt x="6872381" y="6447543"/>
                </a:lnTo>
                <a:lnTo>
                  <a:pt x="0" y="644754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8" id="8"/>
          <p:cNvSpPr txBox="true"/>
          <p:nvPr/>
        </p:nvSpPr>
        <p:spPr>
          <a:xfrm rot="0">
            <a:off x="1028700" y="2732254"/>
            <a:ext cx="8556740" cy="1960621"/>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Technical Implementation</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3123879" y="4191830"/>
            <a:ext cx="2832889" cy="5214681"/>
          </a:xfrm>
          <a:custGeom>
            <a:avLst/>
            <a:gdLst/>
            <a:ahLst/>
            <a:cxnLst/>
            <a:rect r="r" b="b" t="t" l="l"/>
            <a:pathLst>
              <a:path h="5214681" w="2832889">
                <a:moveTo>
                  <a:pt x="0" y="0"/>
                </a:moveTo>
                <a:lnTo>
                  <a:pt x="2832889" y="0"/>
                </a:lnTo>
                <a:lnTo>
                  <a:pt x="2832889" y="5214682"/>
                </a:lnTo>
                <a:lnTo>
                  <a:pt x="0" y="5214682"/>
                </a:lnTo>
                <a:lnTo>
                  <a:pt x="0" y="0"/>
                </a:lnTo>
                <a:close/>
              </a:path>
            </a:pathLst>
          </a:custGeom>
          <a:blipFill>
            <a:blip r:embed="rId7"/>
            <a:stretch>
              <a:fillRect l="0" t="0" r="0" b="0"/>
            </a:stretch>
          </a:blipFill>
        </p:spPr>
      </p:sp>
      <p:sp>
        <p:nvSpPr>
          <p:cNvPr name="Freeform 7" id="7"/>
          <p:cNvSpPr/>
          <p:nvPr/>
        </p:nvSpPr>
        <p:spPr>
          <a:xfrm flipH="false" flipV="false" rot="0">
            <a:off x="7587649" y="4191830"/>
            <a:ext cx="3112702" cy="3701591"/>
          </a:xfrm>
          <a:custGeom>
            <a:avLst/>
            <a:gdLst/>
            <a:ahLst/>
            <a:cxnLst/>
            <a:rect r="r" b="b" t="t" l="l"/>
            <a:pathLst>
              <a:path h="3701591" w="3112702">
                <a:moveTo>
                  <a:pt x="0" y="0"/>
                </a:moveTo>
                <a:lnTo>
                  <a:pt x="3112702" y="0"/>
                </a:lnTo>
                <a:lnTo>
                  <a:pt x="3112702" y="3701592"/>
                </a:lnTo>
                <a:lnTo>
                  <a:pt x="0" y="3701592"/>
                </a:lnTo>
                <a:lnTo>
                  <a:pt x="0" y="0"/>
                </a:lnTo>
                <a:close/>
              </a:path>
            </a:pathLst>
          </a:custGeom>
          <a:blipFill>
            <a:blip r:embed="rId8"/>
            <a:stretch>
              <a:fillRect l="0" t="0" r="0" b="0"/>
            </a:stretch>
          </a:blipFill>
        </p:spPr>
      </p:sp>
      <p:sp>
        <p:nvSpPr>
          <p:cNvPr name="Freeform 8" id="8"/>
          <p:cNvSpPr/>
          <p:nvPr/>
        </p:nvSpPr>
        <p:spPr>
          <a:xfrm flipH="false" flipV="false" rot="0">
            <a:off x="11450463" y="5620424"/>
            <a:ext cx="923304" cy="844403"/>
          </a:xfrm>
          <a:custGeom>
            <a:avLst/>
            <a:gdLst/>
            <a:ahLst/>
            <a:cxnLst/>
            <a:rect r="r" b="b" t="t" l="l"/>
            <a:pathLst>
              <a:path h="844403" w="923304">
                <a:moveTo>
                  <a:pt x="0" y="0"/>
                </a:moveTo>
                <a:lnTo>
                  <a:pt x="923304" y="0"/>
                </a:lnTo>
                <a:lnTo>
                  <a:pt x="923304" y="844404"/>
                </a:lnTo>
                <a:lnTo>
                  <a:pt x="0" y="84440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9" id="9"/>
          <p:cNvSpPr txBox="true"/>
          <p:nvPr/>
        </p:nvSpPr>
        <p:spPr>
          <a:xfrm rot="0">
            <a:off x="1028700" y="2732254"/>
            <a:ext cx="13848166" cy="1003145"/>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Feature Based Architecture</a:t>
            </a:r>
          </a:p>
        </p:txBody>
      </p:sp>
      <p:sp>
        <p:nvSpPr>
          <p:cNvPr name="TextBox 10" id="10"/>
          <p:cNvSpPr txBox="true"/>
          <p:nvPr/>
        </p:nvSpPr>
        <p:spPr>
          <a:xfrm rot="0">
            <a:off x="1080205" y="4144205"/>
            <a:ext cx="5143500" cy="4096259"/>
          </a:xfrm>
          <a:prstGeom prst="rect">
            <a:avLst/>
          </a:prstGeom>
        </p:spPr>
        <p:txBody>
          <a:bodyPr anchor="t" rtlCol="false" tIns="0" lIns="0" bIns="0" rIns="0">
            <a:spAutoFit/>
          </a:bodyPr>
          <a:lstStyle/>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Pattern: </a:t>
            </a:r>
            <a:r>
              <a:rPr lang="en-US" sz="2595">
                <a:solidFill>
                  <a:srgbClr val="004A55"/>
                </a:solidFill>
                <a:latin typeface="Montserrat"/>
                <a:ea typeface="Montserrat"/>
                <a:cs typeface="Montserrat"/>
                <a:sym typeface="Montserrat"/>
              </a:rPr>
              <a:t>Feature-First / Feature-Based.</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Stru</a:t>
            </a:r>
            <a:r>
              <a:rPr lang="en-US" b="true" sz="2595">
                <a:solidFill>
                  <a:srgbClr val="004A55"/>
                </a:solidFill>
                <a:latin typeface="Montserrat Bold"/>
                <a:ea typeface="Montserrat Bold"/>
                <a:cs typeface="Montserrat Bold"/>
                <a:sym typeface="Montserrat Bold"/>
              </a:rPr>
              <a:t>cture: </a:t>
            </a:r>
            <a:r>
              <a:rPr lang="en-US" sz="2595">
                <a:solidFill>
                  <a:srgbClr val="004A55"/>
                </a:solidFill>
                <a:latin typeface="Montserrat"/>
                <a:ea typeface="Montserrat"/>
                <a:cs typeface="Montserrat"/>
                <a:sym typeface="Montserrat"/>
              </a:rPr>
              <a:t>Folder dipisah berdasarkan fitur (Auth, Course, Todo, Account).</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Benefit: </a:t>
            </a:r>
            <a:r>
              <a:rPr lang="en-US" sz="2595">
                <a:solidFill>
                  <a:srgbClr val="004A55"/>
                </a:solidFill>
                <a:latin typeface="Montserrat"/>
                <a:ea typeface="Montserrat"/>
                <a:cs typeface="Montserrat"/>
                <a:sym typeface="Montserrat"/>
              </a:rPr>
              <a:t>Modular, mudah dirawat (maintainable), dan skalabel.</a:t>
            </a:r>
          </a:p>
          <a:p>
            <a:pPr algn="l">
              <a:lnSpc>
                <a:spcPts val="3633"/>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028700" y="2732254"/>
            <a:ext cx="13848166" cy="1003145"/>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State Management: GetX</a:t>
            </a:r>
          </a:p>
        </p:txBody>
      </p:sp>
      <p:sp>
        <p:nvSpPr>
          <p:cNvPr name="TextBox 7" id="7"/>
          <p:cNvSpPr txBox="true"/>
          <p:nvPr/>
        </p:nvSpPr>
        <p:spPr>
          <a:xfrm rot="0">
            <a:off x="1028700" y="4118691"/>
            <a:ext cx="9437398" cy="2724740"/>
          </a:xfrm>
          <a:prstGeom prst="rect">
            <a:avLst/>
          </a:prstGeom>
        </p:spPr>
        <p:txBody>
          <a:bodyPr anchor="t" rtlCol="false" tIns="0" lIns="0" bIns="0" rIns="0">
            <a:spAutoFit/>
          </a:bodyPr>
          <a:lstStyle/>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Library: </a:t>
            </a:r>
            <a:r>
              <a:rPr lang="en-US" sz="2595">
                <a:solidFill>
                  <a:srgbClr val="004A55"/>
                </a:solidFill>
                <a:latin typeface="Montserrat"/>
                <a:ea typeface="Montserrat"/>
                <a:cs typeface="Montserrat"/>
                <a:sym typeface="Montserrat"/>
              </a:rPr>
              <a:t>GetX.</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Key C</a:t>
            </a:r>
            <a:r>
              <a:rPr lang="en-US" b="true" sz="2595">
                <a:solidFill>
                  <a:srgbClr val="004A55"/>
                </a:solidFill>
                <a:latin typeface="Montserrat Bold"/>
                <a:ea typeface="Montserrat Bold"/>
                <a:cs typeface="Montserrat Bold"/>
                <a:sym typeface="Montserrat Bold"/>
              </a:rPr>
              <a:t>oncept: </a:t>
            </a:r>
            <a:r>
              <a:rPr lang="en-US" sz="2595">
                <a:solidFill>
                  <a:srgbClr val="004A55"/>
                </a:solidFill>
                <a:latin typeface="Montserrat"/>
                <a:ea typeface="Montserrat"/>
                <a:cs typeface="Montserrat"/>
                <a:sym typeface="Montserrat"/>
              </a:rPr>
              <a:t>Reactive State Management (Rx variables).</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Be</a:t>
            </a:r>
            <a:r>
              <a:rPr lang="en-US" b="true" sz="2595">
                <a:solidFill>
                  <a:srgbClr val="004A55"/>
                </a:solidFill>
                <a:latin typeface="Montserrat Bold"/>
                <a:ea typeface="Montserrat Bold"/>
                <a:cs typeface="Montserrat Bold"/>
                <a:sym typeface="Montserrat Bold"/>
              </a:rPr>
              <a:t>nefit: </a:t>
            </a:r>
            <a:r>
              <a:rPr lang="en-US" sz="2595">
                <a:solidFill>
                  <a:srgbClr val="004A55"/>
                </a:solidFill>
                <a:latin typeface="Montserrat"/>
                <a:ea typeface="Montserrat"/>
                <a:cs typeface="Montserrat"/>
                <a:sym typeface="Montserrat"/>
              </a:rPr>
              <a:t>Performa tinggi (ringan), manajemen memori efisien, memisahkan Logic dan UI.</a:t>
            </a:r>
          </a:p>
          <a:p>
            <a:pPr algn="l">
              <a:lnSpc>
                <a:spcPts val="3633"/>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028700" y="2732254"/>
            <a:ext cx="13848166" cy="1960621"/>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Backend Integration: Firebase Authentication</a:t>
            </a:r>
          </a:p>
        </p:txBody>
      </p:sp>
      <p:sp>
        <p:nvSpPr>
          <p:cNvPr name="TextBox 7" id="7"/>
          <p:cNvSpPr txBox="true"/>
          <p:nvPr/>
        </p:nvSpPr>
        <p:spPr>
          <a:xfrm rot="0">
            <a:off x="1028700" y="5095875"/>
            <a:ext cx="7171682" cy="2267567"/>
          </a:xfrm>
          <a:prstGeom prst="rect">
            <a:avLst/>
          </a:prstGeom>
        </p:spPr>
        <p:txBody>
          <a:bodyPr anchor="t" rtlCol="false" tIns="0" lIns="0" bIns="0" rIns="0">
            <a:spAutoFit/>
          </a:bodyPr>
          <a:lstStyle/>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Service: </a:t>
            </a:r>
            <a:r>
              <a:rPr lang="en-US" sz="2595">
                <a:solidFill>
                  <a:srgbClr val="004A55"/>
                </a:solidFill>
                <a:latin typeface="Montserrat"/>
                <a:ea typeface="Montserrat"/>
                <a:cs typeface="Montserrat"/>
                <a:sym typeface="Montserrat"/>
              </a:rPr>
              <a:t>Firebase Authentication.</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Me</a:t>
            </a:r>
            <a:r>
              <a:rPr lang="en-US" b="true" sz="2595">
                <a:solidFill>
                  <a:srgbClr val="004A55"/>
                </a:solidFill>
                <a:latin typeface="Montserrat Bold"/>
                <a:ea typeface="Montserrat Bold"/>
                <a:cs typeface="Montserrat Bold"/>
                <a:sym typeface="Montserrat Bold"/>
              </a:rPr>
              <a:t>thod: </a:t>
            </a:r>
            <a:r>
              <a:rPr lang="en-US" sz="2595">
                <a:solidFill>
                  <a:srgbClr val="004A55"/>
                </a:solidFill>
                <a:latin typeface="Montserrat"/>
                <a:ea typeface="Montserrat"/>
                <a:cs typeface="Montserrat"/>
                <a:sym typeface="Montserrat"/>
              </a:rPr>
              <a:t>Email &amp; Password Login.</a:t>
            </a:r>
          </a:p>
          <a:p>
            <a:pPr algn="l" marL="560340" indent="-280170" lvl="1">
              <a:lnSpc>
                <a:spcPts val="3633"/>
              </a:lnSpc>
              <a:buFont typeface="Arial"/>
              <a:buChar char="•"/>
            </a:pPr>
            <a:r>
              <a:rPr lang="en-US" b="true" sz="2595">
                <a:solidFill>
                  <a:srgbClr val="004A55"/>
                </a:solidFill>
                <a:latin typeface="Montserrat Bold"/>
                <a:ea typeface="Montserrat Bold"/>
                <a:cs typeface="Montserrat Bold"/>
                <a:sym typeface="Montserrat Bold"/>
              </a:rPr>
              <a:t>Security: </a:t>
            </a:r>
            <a:r>
              <a:rPr lang="en-US" sz="2595">
                <a:solidFill>
                  <a:srgbClr val="004A55"/>
                </a:solidFill>
                <a:latin typeface="Montserrat"/>
                <a:ea typeface="Montserrat"/>
                <a:cs typeface="Montserrat"/>
                <a:sym typeface="Montserrat"/>
              </a:rPr>
              <a:t>Secure token management &amp; user session.</a:t>
            </a:r>
          </a:p>
          <a:p>
            <a:pPr algn="l">
              <a:lnSpc>
                <a:spcPts val="3633"/>
              </a:lnSpc>
            </a:pPr>
          </a:p>
        </p:txBody>
      </p:sp>
      <p:sp>
        <p:nvSpPr>
          <p:cNvPr name="Freeform 8" id="8"/>
          <p:cNvSpPr/>
          <p:nvPr/>
        </p:nvSpPr>
        <p:spPr>
          <a:xfrm flipH="false" flipV="false" rot="0">
            <a:off x="13585052" y="1070560"/>
            <a:ext cx="3674248" cy="8187740"/>
          </a:xfrm>
          <a:custGeom>
            <a:avLst/>
            <a:gdLst/>
            <a:ahLst/>
            <a:cxnLst/>
            <a:rect r="r" b="b" t="t" l="l"/>
            <a:pathLst>
              <a:path h="8187740" w="3674248">
                <a:moveTo>
                  <a:pt x="0" y="0"/>
                </a:moveTo>
                <a:lnTo>
                  <a:pt x="3674248" y="0"/>
                </a:lnTo>
                <a:lnTo>
                  <a:pt x="3674248" y="8187740"/>
                </a:lnTo>
                <a:lnTo>
                  <a:pt x="0" y="8187740"/>
                </a:lnTo>
                <a:lnTo>
                  <a:pt x="0" y="0"/>
                </a:lnTo>
                <a:close/>
              </a:path>
            </a:pathLst>
          </a:custGeom>
          <a:blipFill>
            <a:blip r:embed="rId7"/>
            <a:stretch>
              <a:fillRect l="0" t="0" r="0" b="0"/>
            </a:stretch>
          </a:blipFill>
        </p:spPr>
      </p:sp>
      <p:sp>
        <p:nvSpPr>
          <p:cNvPr name="Freeform 9" id="9"/>
          <p:cNvSpPr/>
          <p:nvPr/>
        </p:nvSpPr>
        <p:spPr>
          <a:xfrm flipH="false" flipV="false" rot="0">
            <a:off x="12761322" y="781837"/>
            <a:ext cx="5321707" cy="8765186"/>
          </a:xfrm>
          <a:custGeom>
            <a:avLst/>
            <a:gdLst/>
            <a:ahLst/>
            <a:cxnLst/>
            <a:rect r="r" b="b" t="t" l="l"/>
            <a:pathLst>
              <a:path h="8765186" w="5321707">
                <a:moveTo>
                  <a:pt x="0" y="0"/>
                </a:moveTo>
                <a:lnTo>
                  <a:pt x="5321707" y="0"/>
                </a:lnTo>
                <a:lnTo>
                  <a:pt x="5321707" y="8765186"/>
                </a:lnTo>
                <a:lnTo>
                  <a:pt x="0" y="8765186"/>
                </a:lnTo>
                <a:lnTo>
                  <a:pt x="0" y="0"/>
                </a:lnTo>
                <a:close/>
              </a:path>
            </a:pathLst>
          </a:custGeom>
          <a:blipFill>
            <a:blip r:embed="rId8"/>
            <a:stretch>
              <a:fillRect l="-956" t="0" r="-956"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028700" y="2560809"/>
            <a:ext cx="13848166" cy="1003145"/>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 Challenges &amp; Solutions</a:t>
            </a:r>
          </a:p>
        </p:txBody>
      </p:sp>
      <p:sp>
        <p:nvSpPr>
          <p:cNvPr name="TextBox 7" id="7"/>
          <p:cNvSpPr txBox="true"/>
          <p:nvPr/>
        </p:nvSpPr>
        <p:spPr>
          <a:xfrm rot="0">
            <a:off x="1028700" y="3899428"/>
            <a:ext cx="16230600" cy="5924951"/>
          </a:xfrm>
          <a:prstGeom prst="rect">
            <a:avLst/>
          </a:prstGeom>
        </p:spPr>
        <p:txBody>
          <a:bodyPr anchor="t" rtlCol="false" tIns="0" lIns="0" bIns="0" rIns="0">
            <a:spAutoFit/>
          </a:bodyPr>
          <a:lstStyle/>
          <a:p>
            <a:pPr algn="l">
              <a:lnSpc>
                <a:spcPts val="3633"/>
              </a:lnSpc>
            </a:pPr>
            <a:r>
              <a:rPr lang="en-US" sz="2595" b="true">
                <a:solidFill>
                  <a:srgbClr val="004A55"/>
                </a:solidFill>
                <a:latin typeface="Montserrat Bold"/>
                <a:ea typeface="Montserrat Bold"/>
                <a:cs typeface="Montserrat Bold"/>
                <a:sym typeface="Montserrat Bold"/>
              </a:rPr>
              <a:t>Challenge: Complex Dependency Injection during Migration</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Kesulitan saat migrasi fitur Todo List ke Firebase Firestore.</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Terjadi error pada GetX Bindings (Dependency Injection) yang tidak terdeteksi meskipun App Routes sudah diperbarui.</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Solusi instan (AI/Docs) tidak berhasil menyelesaikan masalah spesifik ini.</a:t>
            </a:r>
          </a:p>
          <a:p>
            <a:pPr algn="l">
              <a:lnSpc>
                <a:spcPts val="3633"/>
              </a:lnSpc>
            </a:pPr>
          </a:p>
          <a:p>
            <a:pPr algn="l">
              <a:lnSpc>
                <a:spcPts val="3633"/>
              </a:lnSpc>
            </a:pPr>
            <a:r>
              <a:rPr lang="en-US" sz="2595" b="true">
                <a:solidFill>
                  <a:srgbClr val="004A55"/>
                </a:solidFill>
                <a:latin typeface="Montserrat Bold"/>
                <a:ea typeface="Montserrat Bold"/>
                <a:cs typeface="Montserrat Bold"/>
                <a:sym typeface="Montserrat Bold"/>
              </a:rPr>
              <a:t>Solution: Deep Tracing &amp; Root Cause Analysis</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Melakukan penelusuran manual (manual tracing) pada alur inisialisasi aplikasi.</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Menemukan bahwa Bindings tidak hanya perlu diatur di app_routes, tetapi juga harus di-assign di main_navigation.</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Memperbaiki inisialisasi pada Bottom Navigation Bar sehingga controller dapat berjalan lancar.</a:t>
            </a:r>
          </a:p>
          <a:p>
            <a:pPr algn="l">
              <a:lnSpc>
                <a:spcPts val="3633"/>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8994492" y="877052"/>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true" rot="0">
            <a:off x="15736810" y="7786111"/>
            <a:ext cx="1979288" cy="1957696"/>
          </a:xfrm>
          <a:custGeom>
            <a:avLst/>
            <a:gdLst/>
            <a:ahLst/>
            <a:cxnLst/>
            <a:rect r="r" b="b" t="t" l="l"/>
            <a:pathLst>
              <a:path h="1957696" w="1979288">
                <a:moveTo>
                  <a:pt x="0" y="1957695"/>
                </a:moveTo>
                <a:lnTo>
                  <a:pt x="1979288" y="1957695"/>
                </a:lnTo>
                <a:lnTo>
                  <a:pt x="1979288" y="0"/>
                </a:lnTo>
                <a:lnTo>
                  <a:pt x="0" y="0"/>
                </a:lnTo>
                <a:lnTo>
                  <a:pt x="0" y="1957695"/>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1028700" y="2732254"/>
            <a:ext cx="7803867" cy="1960621"/>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Learning Outcomes</a:t>
            </a:r>
          </a:p>
        </p:txBody>
      </p:sp>
      <p:sp>
        <p:nvSpPr>
          <p:cNvPr name="TextBox 8" id="8"/>
          <p:cNvSpPr txBox="true"/>
          <p:nvPr/>
        </p:nvSpPr>
        <p:spPr>
          <a:xfrm rot="0">
            <a:off x="1028700" y="5095875"/>
            <a:ext cx="10284551" cy="3639086"/>
          </a:xfrm>
          <a:prstGeom prst="rect">
            <a:avLst/>
          </a:prstGeom>
        </p:spPr>
        <p:txBody>
          <a:bodyPr anchor="t" rtlCol="false" tIns="0" lIns="0" bIns="0" rIns="0">
            <a:spAutoFit/>
          </a:bodyPr>
          <a:lstStyle/>
          <a:p>
            <a:pPr algn="l">
              <a:lnSpc>
                <a:spcPts val="3633"/>
              </a:lnSpc>
            </a:pPr>
            <a:r>
              <a:rPr lang="en-US" sz="2595" b="true">
                <a:solidFill>
                  <a:srgbClr val="004A55"/>
                </a:solidFill>
                <a:latin typeface="Montserrat Bold"/>
                <a:ea typeface="Montserrat Bold"/>
                <a:cs typeface="Montserrat Bold"/>
                <a:sym typeface="Montserrat Bold"/>
              </a:rPr>
              <a:t>1. Strong Fundamental &amp; Best Practices</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Memahami konsep dasar arsitektur (Feature-based) dan State Management (GetX) secara mendalam, bukan sekadar coding fitur.</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Penerapan Clean Code berdasarkan teori dan saran langsung dari Mentor.</a:t>
            </a:r>
          </a:p>
          <a:p>
            <a:pPr algn="l">
              <a:lnSpc>
                <a:spcPts val="3633"/>
              </a:lnSpc>
            </a:pPr>
          </a:p>
          <a:p>
            <a:pPr algn="l">
              <a:lnSpc>
                <a:spcPts val="3633"/>
              </a:lnSpc>
            </a:pP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8994492" y="877052"/>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true" rot="0">
            <a:off x="15736810" y="7786111"/>
            <a:ext cx="1979288" cy="1957696"/>
          </a:xfrm>
          <a:custGeom>
            <a:avLst/>
            <a:gdLst/>
            <a:ahLst/>
            <a:cxnLst/>
            <a:rect r="r" b="b" t="t" l="l"/>
            <a:pathLst>
              <a:path h="1957696" w="1979288">
                <a:moveTo>
                  <a:pt x="0" y="1957695"/>
                </a:moveTo>
                <a:lnTo>
                  <a:pt x="1979288" y="1957695"/>
                </a:lnTo>
                <a:lnTo>
                  <a:pt x="1979288" y="0"/>
                </a:lnTo>
                <a:lnTo>
                  <a:pt x="0" y="0"/>
                </a:lnTo>
                <a:lnTo>
                  <a:pt x="0" y="1957695"/>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1028700" y="2732254"/>
            <a:ext cx="7803867" cy="1960621"/>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Learning Outcomes</a:t>
            </a:r>
          </a:p>
        </p:txBody>
      </p:sp>
      <p:sp>
        <p:nvSpPr>
          <p:cNvPr name="TextBox 8" id="8"/>
          <p:cNvSpPr txBox="true"/>
          <p:nvPr/>
        </p:nvSpPr>
        <p:spPr>
          <a:xfrm rot="0">
            <a:off x="1028700" y="5095875"/>
            <a:ext cx="10284551" cy="2724740"/>
          </a:xfrm>
          <a:prstGeom prst="rect">
            <a:avLst/>
          </a:prstGeom>
        </p:spPr>
        <p:txBody>
          <a:bodyPr anchor="t" rtlCol="false" tIns="0" lIns="0" bIns="0" rIns="0">
            <a:spAutoFit/>
          </a:bodyPr>
          <a:lstStyle/>
          <a:p>
            <a:pPr algn="l">
              <a:lnSpc>
                <a:spcPts val="3633"/>
              </a:lnSpc>
            </a:pPr>
            <a:r>
              <a:rPr lang="en-US" sz="2595" b="true">
                <a:solidFill>
                  <a:srgbClr val="004A55"/>
                </a:solidFill>
                <a:latin typeface="Montserrat Bold"/>
                <a:ea typeface="Montserrat Bold"/>
                <a:cs typeface="Montserrat Bold"/>
                <a:sym typeface="Montserrat Bold"/>
              </a:rPr>
              <a:t>2. Professional Mentors</a:t>
            </a:r>
            <a:r>
              <a:rPr lang="en-US" sz="2595" b="true">
                <a:solidFill>
                  <a:srgbClr val="004A55"/>
                </a:solidFill>
                <a:latin typeface="Montserrat Bold"/>
                <a:ea typeface="Montserrat Bold"/>
                <a:cs typeface="Montserrat Bold"/>
                <a:sym typeface="Montserrat Bold"/>
              </a:rPr>
              <a:t>hip &amp; Workflow</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Belajar dari mentor yang suportif dalam memberikan tips teknis dan solusi industri.</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Beradaptasi dengan manajemen proyek yang responsif dan komunikatif.</a:t>
            </a:r>
          </a:p>
          <a:p>
            <a:pPr algn="l">
              <a:lnSpc>
                <a:spcPts val="3633"/>
              </a:lnSpc>
            </a:pP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8994492" y="877052"/>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true" rot="0">
            <a:off x="15736810" y="7786111"/>
            <a:ext cx="1979288" cy="1957696"/>
          </a:xfrm>
          <a:custGeom>
            <a:avLst/>
            <a:gdLst/>
            <a:ahLst/>
            <a:cxnLst/>
            <a:rect r="r" b="b" t="t" l="l"/>
            <a:pathLst>
              <a:path h="1957696" w="1979288">
                <a:moveTo>
                  <a:pt x="0" y="1957695"/>
                </a:moveTo>
                <a:lnTo>
                  <a:pt x="1979288" y="1957695"/>
                </a:lnTo>
                <a:lnTo>
                  <a:pt x="1979288" y="0"/>
                </a:lnTo>
                <a:lnTo>
                  <a:pt x="0" y="0"/>
                </a:lnTo>
                <a:lnTo>
                  <a:pt x="0" y="1957695"/>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1028700" y="2732254"/>
            <a:ext cx="7803867" cy="1960621"/>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Learning Outcomes</a:t>
            </a:r>
          </a:p>
        </p:txBody>
      </p:sp>
      <p:sp>
        <p:nvSpPr>
          <p:cNvPr name="TextBox 8" id="8"/>
          <p:cNvSpPr txBox="true"/>
          <p:nvPr/>
        </p:nvSpPr>
        <p:spPr>
          <a:xfrm rot="0">
            <a:off x="1028700" y="5095875"/>
            <a:ext cx="10284551" cy="2724740"/>
          </a:xfrm>
          <a:prstGeom prst="rect">
            <a:avLst/>
          </a:prstGeom>
        </p:spPr>
        <p:txBody>
          <a:bodyPr anchor="t" rtlCol="false" tIns="0" lIns="0" bIns="0" rIns="0">
            <a:spAutoFit/>
          </a:bodyPr>
          <a:lstStyle/>
          <a:p>
            <a:pPr algn="l">
              <a:lnSpc>
                <a:spcPts val="3633"/>
              </a:lnSpc>
            </a:pPr>
            <a:r>
              <a:rPr lang="en-US" sz="2595" b="true">
                <a:solidFill>
                  <a:srgbClr val="004A55"/>
                </a:solidFill>
                <a:latin typeface="Montserrat Bold"/>
                <a:ea typeface="Montserrat Bold"/>
                <a:cs typeface="Montserrat Bold"/>
                <a:sym typeface="Montserrat Bold"/>
              </a:rPr>
              <a:t>3. Career Readiness (Soft Skills)</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Persiapan memasuk</a:t>
            </a:r>
            <a:r>
              <a:rPr lang="en-US" sz="2595">
                <a:solidFill>
                  <a:srgbClr val="004A55"/>
                </a:solidFill>
                <a:latin typeface="Montserrat"/>
                <a:ea typeface="Montserrat"/>
                <a:cs typeface="Montserrat"/>
                <a:sym typeface="Montserrat"/>
              </a:rPr>
              <a:t>i dunia kerja melalui bimbingan pembuatan CV profesional.</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Simulasi interview dengan HRD untuk melatih kepercayaan diri dan komunikasi.</a:t>
            </a:r>
          </a:p>
          <a:p>
            <a:pPr algn="l">
              <a:lnSpc>
                <a:spcPts val="3633"/>
              </a:lnSpc>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1028700" y="2732254"/>
            <a:ext cx="10654285" cy="1003145"/>
          </a:xfrm>
          <a:prstGeom prst="rect">
            <a:avLst/>
          </a:prstGeom>
        </p:spPr>
        <p:txBody>
          <a:bodyPr anchor="t" rtlCol="false" tIns="0" lIns="0" bIns="0" rIns="0">
            <a:spAutoFit/>
          </a:bodyPr>
          <a:lstStyle/>
          <a:p>
            <a:pPr algn="l">
              <a:lnSpc>
                <a:spcPts val="7562"/>
              </a:lnSpc>
            </a:pPr>
            <a:r>
              <a:rPr lang="en-US" sz="7414" b="true">
                <a:solidFill>
                  <a:srgbClr val="004A55"/>
                </a:solidFill>
                <a:latin typeface="Montserrat Bold"/>
                <a:ea typeface="Montserrat Bold"/>
                <a:cs typeface="Montserrat Bold"/>
                <a:sym typeface="Montserrat Bold"/>
              </a:rPr>
              <a:t>Future Improvement</a:t>
            </a:r>
          </a:p>
        </p:txBody>
      </p:sp>
      <p:sp>
        <p:nvSpPr>
          <p:cNvPr name="TextBox 7" id="7"/>
          <p:cNvSpPr txBox="true"/>
          <p:nvPr/>
        </p:nvSpPr>
        <p:spPr>
          <a:xfrm rot="0">
            <a:off x="1028700" y="3983616"/>
            <a:ext cx="14991542" cy="5924951"/>
          </a:xfrm>
          <a:prstGeom prst="rect">
            <a:avLst/>
          </a:prstGeom>
        </p:spPr>
        <p:txBody>
          <a:bodyPr anchor="t" rtlCol="false" tIns="0" lIns="0" bIns="0" rIns="0">
            <a:spAutoFit/>
          </a:bodyPr>
          <a:lstStyle/>
          <a:p>
            <a:pPr algn="l">
              <a:lnSpc>
                <a:spcPts val="3633"/>
              </a:lnSpc>
            </a:pPr>
            <a:r>
              <a:rPr lang="en-US" sz="2595">
                <a:solidFill>
                  <a:srgbClr val="004A55"/>
                </a:solidFill>
                <a:latin typeface="Montserrat"/>
                <a:ea typeface="Montserrat"/>
                <a:cs typeface="Montserrat"/>
                <a:sym typeface="Montserrat"/>
              </a:rPr>
              <a:t>1. </a:t>
            </a:r>
            <a:r>
              <a:rPr lang="en-US" sz="2595" b="true">
                <a:solidFill>
                  <a:srgbClr val="004A55"/>
                </a:solidFill>
                <a:latin typeface="Montserrat Bold"/>
                <a:ea typeface="Montserrat Bold"/>
                <a:cs typeface="Montserrat Bold"/>
                <a:sym typeface="Montserrat Bold"/>
              </a:rPr>
              <a:t>Enhanced Authentication (Social Login)</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Implementasi Google &amp; Apple Sign-In untuk mempermudah proses masuk (onboarding) pengguna.</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Mengurangi friksi saat registrasi dibandingkan input manual.</a:t>
            </a:r>
          </a:p>
          <a:p>
            <a:pPr algn="l">
              <a:lnSpc>
                <a:spcPts val="3633"/>
              </a:lnSpc>
            </a:pPr>
            <a:r>
              <a:rPr lang="en-US" sz="2595">
                <a:solidFill>
                  <a:srgbClr val="004A55"/>
                </a:solidFill>
                <a:latin typeface="Montserrat"/>
                <a:ea typeface="Montserrat"/>
                <a:cs typeface="Montserrat"/>
                <a:sym typeface="Montserrat"/>
              </a:rPr>
              <a:t>2. </a:t>
            </a:r>
            <a:r>
              <a:rPr lang="en-US" sz="2595" b="true">
                <a:solidFill>
                  <a:srgbClr val="004A55"/>
                </a:solidFill>
                <a:latin typeface="Montserrat Bold"/>
                <a:ea typeface="Montserrat Bold"/>
                <a:cs typeface="Montserrat Bold"/>
                <a:sym typeface="Montserrat Bold"/>
              </a:rPr>
              <a:t>Role-Based Access Control (RBAC)</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Pemisahan hak akses antara User (Student) dan Admin/Instructor.</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User fokus pada Learning Experience (View Only), sementara Admin memiliki akses manajemen konten (CRUD Course).</a:t>
            </a:r>
          </a:p>
          <a:p>
            <a:pPr algn="l">
              <a:lnSpc>
                <a:spcPts val="3633"/>
              </a:lnSpc>
            </a:pPr>
            <a:r>
              <a:rPr lang="en-US" sz="2595">
                <a:solidFill>
                  <a:srgbClr val="004A55"/>
                </a:solidFill>
                <a:latin typeface="Montserrat"/>
                <a:ea typeface="Montserrat"/>
                <a:cs typeface="Montserrat"/>
                <a:sym typeface="Montserrat"/>
              </a:rPr>
              <a:t>3. </a:t>
            </a:r>
            <a:r>
              <a:rPr lang="en-US" sz="2595" b="true">
                <a:solidFill>
                  <a:srgbClr val="004A55"/>
                </a:solidFill>
                <a:latin typeface="Montserrat Bold"/>
                <a:ea typeface="Montserrat Bold"/>
                <a:cs typeface="Montserrat Bold"/>
                <a:sym typeface="Montserrat Bold"/>
              </a:rPr>
              <a:t>Integrated Home Dashboard</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Menghubungkan data Course langsung ke Home Page.</a:t>
            </a:r>
          </a:p>
          <a:p>
            <a:pPr algn="l" marL="560340" indent="-280170" lvl="1">
              <a:lnSpc>
                <a:spcPts val="3633"/>
              </a:lnSpc>
              <a:buFont typeface="Arial"/>
              <a:buChar char="•"/>
            </a:pPr>
            <a:r>
              <a:rPr lang="en-US" sz="2595">
                <a:solidFill>
                  <a:srgbClr val="004A55"/>
                </a:solidFill>
                <a:latin typeface="Montserrat"/>
                <a:ea typeface="Montserrat"/>
                <a:cs typeface="Montserrat"/>
                <a:sym typeface="Montserrat"/>
              </a:rPr>
              <a:t>Menampilkan widget seperti "Course Progress", "Popular Courses", atau "Continue Learning" di halaman utama.</a:t>
            </a:r>
          </a:p>
          <a:p>
            <a:pPr algn="l">
              <a:lnSpc>
                <a:spcPts val="3633"/>
              </a:lnSpc>
            </a:pP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6670238" y="0"/>
            <a:ext cx="11617762" cy="10287000"/>
          </a:xfrm>
          <a:custGeom>
            <a:avLst/>
            <a:gdLst/>
            <a:ahLst/>
            <a:cxnLst/>
            <a:rect r="r" b="b" t="t" l="l"/>
            <a:pathLst>
              <a:path h="10287000" w="11617762">
                <a:moveTo>
                  <a:pt x="0" y="0"/>
                </a:moveTo>
                <a:lnTo>
                  <a:pt x="11617762" y="0"/>
                </a:lnTo>
                <a:lnTo>
                  <a:pt x="11617762" y="10287000"/>
                </a:lnTo>
                <a:lnTo>
                  <a:pt x="0" y="102870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5" id="5"/>
          <p:cNvSpPr/>
          <p:nvPr/>
        </p:nvSpPr>
        <p:spPr>
          <a:xfrm flipH="true" flipV="false" rot="0">
            <a:off x="1028700" y="1029604"/>
            <a:ext cx="805018" cy="805018"/>
          </a:xfrm>
          <a:custGeom>
            <a:avLst/>
            <a:gdLst/>
            <a:ahLst/>
            <a:cxnLst/>
            <a:rect r="r" b="b" t="t" l="l"/>
            <a:pathLst>
              <a:path h="805018" w="805018">
                <a:moveTo>
                  <a:pt x="805018" y="0"/>
                </a:moveTo>
                <a:lnTo>
                  <a:pt x="0" y="0"/>
                </a:lnTo>
                <a:lnTo>
                  <a:pt x="0" y="805018"/>
                </a:lnTo>
                <a:lnTo>
                  <a:pt x="805018" y="805018"/>
                </a:lnTo>
                <a:lnTo>
                  <a:pt x="805018"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 id="7"/>
          <p:cNvSpPr/>
          <p:nvPr/>
        </p:nvSpPr>
        <p:spPr>
          <a:xfrm flipH="false" flipV="false" rot="0">
            <a:off x="8866550" y="1915725"/>
            <a:ext cx="7403105" cy="7039680"/>
          </a:xfrm>
          <a:custGeom>
            <a:avLst/>
            <a:gdLst/>
            <a:ahLst/>
            <a:cxnLst/>
            <a:rect r="r" b="b" t="t" l="l"/>
            <a:pathLst>
              <a:path h="7039680" w="7403105">
                <a:moveTo>
                  <a:pt x="0" y="0"/>
                </a:moveTo>
                <a:lnTo>
                  <a:pt x="7403106" y="0"/>
                </a:lnTo>
                <a:lnTo>
                  <a:pt x="7403106" y="7039680"/>
                </a:lnTo>
                <a:lnTo>
                  <a:pt x="0" y="703968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8" id="8"/>
          <p:cNvSpPr txBox="true"/>
          <p:nvPr/>
        </p:nvSpPr>
        <p:spPr>
          <a:xfrm rot="0">
            <a:off x="1028700" y="3500164"/>
            <a:ext cx="8115300" cy="2953126"/>
          </a:xfrm>
          <a:prstGeom prst="rect">
            <a:avLst/>
          </a:prstGeom>
        </p:spPr>
        <p:txBody>
          <a:bodyPr anchor="t" rtlCol="false" tIns="0" lIns="0" bIns="0" rIns="0">
            <a:spAutoFit/>
          </a:bodyPr>
          <a:lstStyle/>
          <a:p>
            <a:pPr algn="l">
              <a:lnSpc>
                <a:spcPts val="11405"/>
              </a:lnSpc>
            </a:pPr>
            <a:r>
              <a:rPr lang="en-US" sz="11182" b="true">
                <a:solidFill>
                  <a:srgbClr val="004A55"/>
                </a:solidFill>
                <a:latin typeface="Montserrat Bold"/>
                <a:ea typeface="Montserrat Bold"/>
                <a:cs typeface="Montserrat Bold"/>
                <a:sym typeface="Montserrat Bold"/>
              </a:rPr>
              <a:t>Any Question?</a:t>
            </a:r>
          </a:p>
        </p:txBody>
      </p:sp>
      <p:sp>
        <p:nvSpPr>
          <p:cNvPr name="TextBox 9" id="9"/>
          <p:cNvSpPr txBox="true"/>
          <p:nvPr/>
        </p:nvSpPr>
        <p:spPr>
          <a:xfrm rot="0">
            <a:off x="1991244" y="1077229"/>
            <a:ext cx="1660711" cy="838495"/>
          </a:xfrm>
          <a:prstGeom prst="rect">
            <a:avLst/>
          </a:prstGeom>
        </p:spPr>
        <p:txBody>
          <a:bodyPr anchor="t" rtlCol="false" tIns="0" lIns="0" bIns="0" rIns="0">
            <a:spAutoFit/>
          </a:bodyPr>
          <a:lstStyle/>
          <a:p>
            <a:pPr algn="l">
              <a:lnSpc>
                <a:spcPts val="3215"/>
              </a:lnSpc>
            </a:pPr>
            <a:r>
              <a:rPr lang="en-US" sz="3151" b="true">
                <a:solidFill>
                  <a:srgbClr val="004A55"/>
                </a:solidFill>
                <a:latin typeface="Montserrat Bold"/>
                <a:ea typeface="Montserrat Bold"/>
                <a:cs typeface="Montserrat Bold"/>
                <a:sym typeface="Montserrat Bold"/>
              </a:rPr>
              <a:t>Logo</a:t>
            </a:r>
          </a:p>
          <a:p>
            <a:pPr algn="l">
              <a:lnSpc>
                <a:spcPts val="3215"/>
              </a:lnSpc>
            </a:pPr>
            <a:r>
              <a:rPr lang="en-US" sz="3151" b="true">
                <a:solidFill>
                  <a:srgbClr val="004A55"/>
                </a:solidFill>
                <a:latin typeface="Montserrat Bold"/>
                <a:ea typeface="Montserrat Bold"/>
                <a:cs typeface="Montserrat Bold"/>
                <a:sym typeface="Montserrat Bold"/>
              </a:rPr>
              <a:t>Here</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F6F6"/>
        </a:solidFill>
      </p:bgPr>
    </p:bg>
    <p:spTree>
      <p:nvGrpSpPr>
        <p:cNvPr id="1" name=""/>
        <p:cNvGrpSpPr/>
        <p:nvPr/>
      </p:nvGrpSpPr>
      <p:grpSpPr>
        <a:xfrm>
          <a:off x="0" y="0"/>
          <a:ext cx="0" cy="0"/>
          <a:chOff x="0" y="0"/>
          <a:chExt cx="0" cy="0"/>
        </a:xfrm>
      </p:grpSpPr>
      <p:sp>
        <p:nvSpPr>
          <p:cNvPr name="Freeform 2" id="2"/>
          <p:cNvSpPr/>
          <p:nvPr/>
        </p:nvSpPr>
        <p:spPr>
          <a:xfrm flipH="true" flipV="false" rot="0">
            <a:off x="9144000" y="0"/>
            <a:ext cx="10287000" cy="10287000"/>
          </a:xfrm>
          <a:custGeom>
            <a:avLst/>
            <a:gdLst/>
            <a:ahLst/>
            <a:cxnLst/>
            <a:rect r="r" b="b" t="t" l="l"/>
            <a:pathLst>
              <a:path h="10287000" w="10287000">
                <a:moveTo>
                  <a:pt x="10287000" y="0"/>
                </a:moveTo>
                <a:lnTo>
                  <a:pt x="0" y="0"/>
                </a:lnTo>
                <a:lnTo>
                  <a:pt x="0" y="10287000"/>
                </a:lnTo>
                <a:lnTo>
                  <a:pt x="10287000" y="10287000"/>
                </a:lnTo>
                <a:lnTo>
                  <a:pt x="10287000" y="0"/>
                </a:lnTo>
                <a:close/>
              </a:path>
            </a:pathLst>
          </a:custGeom>
          <a:blipFill>
            <a:blip r:embed="rId2">
              <a:alphaModFix amt="25000"/>
            </a:blip>
            <a:stretch>
              <a:fillRect l="0" t="0" r="0" b="0"/>
            </a:stretch>
          </a:blipFill>
        </p:spPr>
      </p:sp>
      <p:sp>
        <p:nvSpPr>
          <p:cNvPr name="Freeform 3" id="3"/>
          <p:cNvSpPr/>
          <p:nvPr/>
        </p:nvSpPr>
        <p:spPr>
          <a:xfrm flipH="false" flipV="false" rot="0">
            <a:off x="-1143000" y="0"/>
            <a:ext cx="10287000" cy="10287000"/>
          </a:xfrm>
          <a:custGeom>
            <a:avLst/>
            <a:gdLst/>
            <a:ahLst/>
            <a:cxnLst/>
            <a:rect r="r" b="b" t="t" l="l"/>
            <a:pathLst>
              <a:path h="10287000" w="10287000">
                <a:moveTo>
                  <a:pt x="0" y="0"/>
                </a:moveTo>
                <a:lnTo>
                  <a:pt x="10287000" y="0"/>
                </a:lnTo>
                <a:lnTo>
                  <a:pt x="10287000" y="10287000"/>
                </a:lnTo>
                <a:lnTo>
                  <a:pt x="0" y="10287000"/>
                </a:lnTo>
                <a:lnTo>
                  <a:pt x="0" y="0"/>
                </a:lnTo>
                <a:close/>
              </a:path>
            </a:pathLst>
          </a:custGeom>
          <a:blipFill>
            <a:blip r:embed="rId2">
              <a:alphaModFix amt="25000"/>
            </a:blip>
            <a:stretch>
              <a:fillRect l="0" t="0" r="0" b="0"/>
            </a:stretch>
          </a:blipFill>
        </p:spPr>
      </p:sp>
      <p:sp>
        <p:nvSpPr>
          <p:cNvPr name="Freeform 4" id="4"/>
          <p:cNvSpPr/>
          <p:nvPr/>
        </p:nvSpPr>
        <p:spPr>
          <a:xfrm flipH="false" flipV="true" rot="0">
            <a:off x="15280012" y="7300604"/>
            <a:ext cx="1979288" cy="1957696"/>
          </a:xfrm>
          <a:custGeom>
            <a:avLst/>
            <a:gdLst/>
            <a:ahLst/>
            <a:cxnLst/>
            <a:rect r="r" b="b" t="t" l="l"/>
            <a:pathLst>
              <a:path h="1957696" w="1979288">
                <a:moveTo>
                  <a:pt x="0" y="1957696"/>
                </a:moveTo>
                <a:lnTo>
                  <a:pt x="1979288" y="1957696"/>
                </a:lnTo>
                <a:lnTo>
                  <a:pt x="1979288" y="0"/>
                </a:lnTo>
                <a:lnTo>
                  <a:pt x="0" y="0"/>
                </a:lnTo>
                <a:lnTo>
                  <a:pt x="0" y="1957696"/>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7684347" y="5120635"/>
            <a:ext cx="512450" cy="436980"/>
          </a:xfrm>
          <a:custGeom>
            <a:avLst/>
            <a:gdLst/>
            <a:ahLst/>
            <a:cxnLst/>
            <a:rect r="r" b="b" t="t" l="l"/>
            <a:pathLst>
              <a:path h="436980" w="512450">
                <a:moveTo>
                  <a:pt x="0" y="0"/>
                </a:moveTo>
                <a:lnTo>
                  <a:pt x="512451" y="0"/>
                </a:lnTo>
                <a:lnTo>
                  <a:pt x="512451" y="436980"/>
                </a:lnTo>
                <a:lnTo>
                  <a:pt x="0" y="43698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2219917" y="4145330"/>
            <a:ext cx="13848166" cy="998170"/>
          </a:xfrm>
          <a:prstGeom prst="rect">
            <a:avLst/>
          </a:prstGeom>
        </p:spPr>
        <p:txBody>
          <a:bodyPr anchor="t" rtlCol="false" tIns="0" lIns="0" bIns="0" rIns="0">
            <a:spAutoFit/>
          </a:bodyPr>
          <a:lstStyle/>
          <a:p>
            <a:pPr algn="ctr">
              <a:lnSpc>
                <a:spcPts val="7562"/>
              </a:lnSpc>
            </a:pPr>
            <a:r>
              <a:rPr lang="en-US" sz="7414" b="true">
                <a:solidFill>
                  <a:srgbClr val="004A55"/>
                </a:solidFill>
                <a:latin typeface="Montserrat Bold"/>
                <a:ea typeface="Montserrat Bold"/>
                <a:cs typeface="Montserrat Bold"/>
                <a:sym typeface="Montserrat Bold"/>
              </a:rPr>
              <a:t>TERIMA KASIH</a:t>
            </a:r>
          </a:p>
        </p:txBody>
      </p:sp>
      <p:sp>
        <p:nvSpPr>
          <p:cNvPr name="TextBox 7" id="7"/>
          <p:cNvSpPr txBox="true"/>
          <p:nvPr/>
        </p:nvSpPr>
        <p:spPr>
          <a:xfrm rot="0">
            <a:off x="8196798" y="5063485"/>
            <a:ext cx="3329974" cy="471265"/>
          </a:xfrm>
          <a:prstGeom prst="rect">
            <a:avLst/>
          </a:prstGeom>
        </p:spPr>
        <p:txBody>
          <a:bodyPr anchor="t" rtlCol="false" tIns="0" lIns="0" bIns="0" rIns="0">
            <a:spAutoFit/>
          </a:bodyPr>
          <a:lstStyle/>
          <a:p>
            <a:pPr algn="l">
              <a:lnSpc>
                <a:spcPts val="3845"/>
              </a:lnSpc>
            </a:pPr>
            <a:r>
              <a:rPr lang="en-US" sz="2747">
                <a:solidFill>
                  <a:srgbClr val="004A55"/>
                </a:solidFill>
                <a:latin typeface="Montserrat"/>
                <a:ea typeface="Montserrat"/>
                <a:cs typeface="Montserrat"/>
                <a:sym typeface="Montserrat"/>
              </a:rPr>
              <a:t>kevinbanamtuan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DAG6uV1td2w</dc:identifier>
  <dcterms:modified xsi:type="dcterms:W3CDTF">2011-08-01T06:04:30Z</dcterms:modified>
  <cp:revision>1</cp:revision>
  <dc:title>Luarsekolah Mobile App</dc:title>
</cp:coreProperties>
</file>